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24c5d11-5ea4-b06b-6271-b1c78a91c51b}">
          <p14:sldIdLst>
            <p14:sldId id="256"/>
            <p14:sldId id="257"/>
            <p14:sldId id="258"/>
          </p14:sldIdLst>
        </p14:section>
        <p14:section name="Design" id="{25e34b30-63ea-9600-92a9-d5ac216a7adc}">
          <p14:sldIdLst>
            <p14:sldId id="259"/>
            <p14:sldId id="260"/>
            <p14:sldId id="261"/>
            <p14:sldId id="262"/>
          </p14:sldIdLst>
        </p14:section>
        <p14:section name="Features" id="{405d0711-75ac-166d-ee68-5ae69ff4d8fd}">
          <p14:sldIdLst>
            <p14:sldId id="263"/>
            <p14:sldId id="264"/>
            <p14:sldId id="265"/>
            <p14:sldId id="266"/>
          </p14:sldIdLst>
        </p14:section>
        <p14:section name="Review" id="{6950321a-7b3a-801d-4343-aa6978ebb00e}">
          <p14:sldIdLst>
            <p14:sldId id="267"/>
            <p14:sldId id="268"/>
            <p14:sldId id="269"/>
          </p14:sldIdLst>
        </p14:section>
        <p14:section name="Wrap-up" id="{0cd4454e-bcfc-0fa7-6c36-0d8a8b4d5af8}">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Features</c:v>
                </c:pt>
              </c:strCache>
            </c:strRef>
          </c:tx>
          <c:spPr>
            <a:solidFill>
              <a:schemeClr val="accent1"/>
            </a:solidFill>
            <a:ln w="9525" cap="flat">
              <a:solidFill>
                <a:srgbClr val="F9F9F9"/>
              </a:solidFill>
              <a:prstDash val="solid"/>
              <a:round/>
            </a:ln>
            <a:effectLst/>
          </c:spPr>
          <c:dPt>
            <c:idx val="0"/>
            <c:bubble3D val="0"/>
            <c:spPr>
              <a:solidFill>
                <a:srgbClr val="1F7A52"/>
              </a:solidFill>
              <a:ln w="25400" cap="flat">
                <a:solidFill>
                  <a:srgbClr val="FFFFFF"/>
                </a:solidFill>
                <a:prstDash val="solid"/>
                <a:round/>
              </a:ln>
              <a:effectLst/>
            </c:spPr>
          </c:dPt>
          <c:dPt>
            <c:idx val="1"/>
            <c:bubble3D val="0"/>
            <c:spPr>
              <a:solidFill>
                <a:srgbClr val="B7791F"/>
              </a:solidFill>
              <a:ln w="25400" cap="flat">
                <a:solidFill>
                  <a:srgbClr val="FFFFFF"/>
                </a:solidFill>
                <a:prstDash val="solid"/>
                <a:round/>
              </a:ln>
              <a:effectLst/>
            </c:spPr>
          </c:dPt>
          <c:dPt>
            <c:idx val="2"/>
            <c:bubble3D val="0"/>
            <c:spPr>
              <a:solidFill>
                <a:srgbClr val="C0392B"/>
              </a:solidFill>
              <a:ln w="25400" cap="flat">
                <a:solidFill>
                  <a:srgbClr val="FFFFFF"/>
                </a:solidFill>
                <a:prstDash val="solid"/>
                <a:round/>
              </a:ln>
              <a:effectLst/>
            </c:spPr>
          </c:dPt>
          <c:dLbls>
            <c:dLbl>
              <c:idx val="0"/>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Implemented</c:v>
                </c:pt>
                <c:pt idx="1">
                  <c:v>Partial</c:v>
                </c:pt>
                <c:pt idx="2">
                  <c:v>Not built</c:v>
                </c:pt>
              </c:strCache>
            </c:strRef>
          </c:cat>
          <c:val>
            <c:numRef>
              <c:f>Sheet1!$B$2:$B$4</c:f>
              <c:numCache>
                <c:ptCount val="3"/>
                <c:pt idx="0">
                  <c:v>15</c:v>
                </c:pt>
                <c:pt idx="1">
                  <c:v>3</c:v>
                </c:pt>
                <c:pt idx="2">
                  <c:v>1</c:v>
                </c:pt>
              </c:numCache>
            </c:numRef>
          </c:val>
        </c:ser>
        <c:firstSliceAng val="0"/>
        <c:holeSize val="55"/>
      </c:doughnutChart>
      <c:spPr>
        <a:noFill/>
        <a:ln>
          <a:noFill/>
        </a:ln>
        <a:effectLst/>
      </c:spPr>
    </c:plotArea>
    <c:legend>
      <c:legendPos val="b"/>
      <c:overlay val="0"/>
      <c:txPr>
        <a:bodyPr/>
        <a:lstStyle/>
        <a:p>
          <a:pPr>
            <a:defRPr sz="1400">
              <a:solidFill>
                <a:srgbClr val="1B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Marks</c:v>
                </c:pt>
              </c:strCache>
            </c:strRef>
          </c:tx>
          <c:spPr>
            <a:solidFill>
              <a:srgbClr val="F28C28"/>
            </a:solidFill>
            <a:effectLst/>
          </c:spPr>
          <c:invertIfNegative val="0"/>
          <c:dLbls>
            <c:numFmt formatCode="#,##0" sourceLinked="0"/>
            <c:txPr>
              <a:bodyPr/>
              <a:lstStyle/>
              <a:p>
                <a:pPr>
                  <a:defRPr b="1" i="0" strike="noStrike" sz="1400" u="none">
                    <a:solidFill>
                      <a:srgbClr val="1B232B"/>
                    </a:solidFill>
                    <a:latin typeface="+mn-lt"/>
                  </a:defRPr>
                </a:pPr>
              </a:p>
            </c:txPr>
            <c:showLegendKey val="0"/>
            <c:showVal val="1"/>
            <c:showCatName val="0"/>
            <c:showSerName val="0"/>
            <c:showPercent val="0"/>
            <c:showBubbleSize val="0"/>
            <c:showLeaderLines val="0"/>
          </c:dLbls>
          <c:dPt>
            <c:idx val="0"/>
            <c:invertIfNegative val="0"/>
            <c:bubble3D val="0"/>
            <c:spPr>
              <a:solidFill>
                <a:srgbClr val="F28C28"/>
              </a:solidFill>
              <a:effectLst/>
            </c:spPr>
          </c:dPt>
          <c:dPt>
            <c:idx val="1"/>
            <c:invertIfNegative val="0"/>
            <c:bubble3D val="0"/>
            <c:spPr>
              <a:solidFill>
                <a:srgbClr val="2B3A47"/>
              </a:solidFill>
              <a:effectLst/>
            </c:spPr>
          </c:dPt>
          <c:dPt>
            <c:idx val="2"/>
            <c:invertIfNegative val="0"/>
            <c:bubble3D val="0"/>
            <c:spPr>
              <a:solidFill>
                <a:srgbClr val="2B3A47"/>
              </a:solidFill>
              <a:effectLst/>
            </c:spPr>
          </c:dPt>
          <c:dPt>
            <c:idx val="3"/>
            <c:invertIfNegative val="0"/>
            <c:bubble3D val="0"/>
            <c:spPr>
              <a:solidFill>
                <a:srgbClr val="2B3A47"/>
              </a:solidFill>
              <a:effectLst/>
            </c:spPr>
          </c:dPt>
          <c:cat>
            <c:multiLvlStrRef>
              <c:f>Sheet1!$A$2:$A$5</c:f>
              <c:multiLvlStrCache>
                <c:ptCount val="4"/>
                <c:lvl>
                  <c:pt idx="0">
                    <c:v>Implementation</c:v>
                  </c:pt>
                  <c:pt idx="1">
                    <c:v>UI and responsive</c:v>
                  </c:pt>
                  <c:pt idx="2">
                    <c:v>Documentation</c:v>
                  </c:pt>
                  <c:pt idx="3">
                    <c:v>Presentation, viva</c:v>
                  </c:pt>
                </c:lvl>
              </c:multiLvlStrCache>
            </c:multiLvlStrRef>
          </c:cat>
          <c:val>
            <c:numRef>
              <c:f>Sheet1!$B$2:$B$5</c:f>
              <c:numCache>
                <c:formatCode>General</c:formatCode>
                <c:ptCount val="4"/>
                <c:pt idx="0">
                  <c:v>70</c:v>
                </c:pt>
                <c:pt idx="1">
                  <c:v>10</c:v>
                </c:pt>
                <c:pt idx="2">
                  <c:v>10</c:v>
                </c:pt>
                <c:pt idx="3">
                  <c:v>10</c:v>
                </c:pt>
              </c:numCache>
            </c:numRef>
          </c:val>
        </c:ser>
        <c:dLbls>
          <c:numFmt formatCode="#,##0" sourceLinked="0"/>
          <c:txPr>
            <a:bodyPr/>
            <a:lstStyle/>
            <a:p>
              <a:pPr>
                <a:defRPr b="1" i="0" strike="noStrike" sz="1400" u="none">
                  <a:solidFill>
                    <a:srgbClr val="1B23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32B"/>
                </a:solidFill>
                <a:latin typeface="+mn-lt"/>
              </a:defRPr>
            </a:pPr>
            <a:endParaRPr lang="en-US"/>
          </a:p>
        </c:txPr>
        <c:crossAx val="2094734552"/>
        <c:crosses val="autoZero"/>
        <c:auto val="1"/>
        <c:lblAlgn val="ctr"/>
        <c:noMultiLvlLbl val="1"/>
      </c:catAx>
      <c:valAx>
        <c:axId val="2094734552"/>
        <c:scaling>
          <c:orientation val="minMax"/>
          <c:max val="8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Construction Work Place is a React e-commerce web app for construction materials such as bricks, cement, steel and sand. It follows the project-based learning specification: React, Redux Toolkit, Context API and React Router, with an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numbers: 19 routes (7 public, 5 customer, 7 admin), 4 Redux slices, 2 roles, and just over 5,000 lines of JSX and CSS. Three kinds of visitor: guests can browse, customers can order, admins manage the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framed qualitatively: buying materials is manual. The four objectives are discover, order, manage and learn. The learning objective reflects the project-based learning brief: apply React, Redux Toolkit, Context API and routing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come from package.json: React 19, React Router 7, Redux Toolkit 2, Bootstrap 5, Vite 8. One honest deviation from the specification: data is stored in the browser's localStorage rather than JSON Server via Axios. services/api.js is reserved for that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layers. The state layer is highlighted because Redux Toolkit and the AuthContext hold all application state. The bottom comparison is deliberate: the specification describes Axios and JSON Server, while this build mirrors state to localStorage, which is easy to demo and has no server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folder layout follows the specification's structure: components, pages, admin, redux, context, services and routes under src. FAQ.jsx and api.js exist as placeholders, so the page and service counts reflect working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access zones. ProtectedRoute wraps the customer and admin groups using Outlet. It checks the user from AuthContext: no user goes to login; a non-admin on an admin URL goes home; an admin on a customer URL goes to the dashboard. Any unknown URL shows a 404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numbered path. Registration checks password length, confirmation and duplicate emails, then signs the user in. Search matches product name and description; the category dropdown is built from the catalogue. Quantity in the cart can never exceed the available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Redux Toolkit slices, each with focused reducers. Redux flow for the viva: component dispatches an action, the reducer updates the store, subscribed components re-render. AuthContext handles identity separately; this is the Context API versus Redux distinction. Cart and wishlist are stored under per-customer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Checkout validates every field before creating the order object. The phone check is a 10-digit Indian mobile number starting 6 to 9, and the PIN check is six digits. UPI is a demo selection only, no real payment is processed. New orders start as Placed with payment Pending; the admin then moves them through Pending, Processing, Shipped, Delivered, or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area is reachable only with the admin role. The dashboard summarises the store and flags products with five or fewer units. Product management is full CRUD with validation. Customer management is view-only, and categories are derived from the products in the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compares the specification's common-features checklist with what is in the code. Fifteen of nineteen are implemented, three are partial and reviews are not built. The extras go beyond the specification: carts are per customer, quantities are capped at stock, and the dashboard flags low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project to the 100-mark scheme: 70 for implementation, 10 each for UI and responsiveness, documentation, and presentation with viva. The chain along the bottom is the Redux flow the examiners ask about: component, dispatch, reducer, store, UI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data is stored in the browser, payments are demo-only, admin credentials are hard-coded in AuthContext, and stock is not reduced when an order is placed. The roadmap follows the specification's future enhancements: JSON Server with Axios first, then JWT, payment gateway, reviews, order tracking and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takeaways, then invite questions. Have the viva Q&amp;A appendix of the companion PDF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1005840"/>
            <a:ext cx="512064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548640" y="2743200"/>
            <a:ext cx="4937760" cy="7772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457200" y="4773168"/>
            <a:ext cx="5486400" cy="256032"/>
          </a:xfrm>
          <a:prstGeom prst="rect">
            <a:avLst/>
          </a:prstGeom>
          <a:noFill/>
          <a:ln/>
        </p:spPr>
        <p:txBody>
          <a:bodyPr wrap="square" lIns="0" tIns="0" rIns="0" bIns="0" rtlCol="0" anchor="ctr"/>
          <a:lstStyle/>
          <a:p>
            <a:pPr indent="0" marL="0">
              <a:buNone/>
            </a:pPr>
            <a:r>
              <a:rPr lang="en-US" sz="1000" dirty="0">
                <a:solidFill>
                  <a:schemeClr val="accent3"/>
                </a:solidFill>
              </a:rPr>
              <a:t>Construction Work Place  ·  React E-Commerce Project</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nvSpPr>
        <p:spPr>
          <a:xfrm>
            <a:off x="457200" y="4773168"/>
            <a:ext cx="5486400" cy="256032"/>
          </a:xfrm>
          <a:prstGeom prst="rect">
            <a:avLst/>
          </a:prstGeom>
          <a:noFill/>
          <a:ln/>
        </p:spPr>
        <p:txBody>
          <a:bodyPr wrap="square" lIns="0" tIns="0" rIns="0" bIns="0" rtlCol="0" anchor="ctr"/>
          <a:lstStyle/>
          <a:p>
            <a:pPr indent="0" marL="0">
              <a:buNone/>
            </a:pPr>
            <a:r>
              <a:rPr lang="en-US" sz="1000" dirty="0">
                <a:solidFill>
                  <a:schemeClr val="bg2"/>
                </a:solidFill>
              </a:rPr>
              <a:t>Construction Work Place  ·  React E-Commerce Project</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640080"/>
            <a:ext cx="54864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PROJECT-BASED LEARNING  ·  REACT JS</a:t>
            </a:r>
            <a:endParaRPr lang="en-US" sz="1200" dirty="0"/>
          </a:p>
        </p:txBody>
      </p:sp>
      <p:sp>
        <p:nvSpPr>
          <p:cNvPr id="3" name="Text 1"/>
          <p:cNvSpPr/>
          <p:nvPr>
            <p:ph idx="101" type="title" hasCustomPrompt="1"/>
          </p:nvPr>
        </p:nvSpPr>
        <p:spPr>
          <a:xfrm>
            <a:off x="548640" y="1005840"/>
            <a:ext cx="5120640" cy="1600200"/>
          </a:xfrm>
          <a:prstGeom prst="rect">
            <a:avLst/>
          </a:prstGeom>
          <a:noFill/>
          <a:ln/>
        </p:spPr>
        <p:txBody>
          <a:bodyPr wrap="square" lIns="0" tIns="0" rIns="0" bIns="0" rtlCol="0" anchor="b"/>
          <a:lstStyle/>
          <a:p>
            <a:pPr algn="l" indent="0" marL="0">
              <a:buNone/>
            </a:pPr>
            <a:r>
              <a:rPr lang="en-US" sz="4400" b="1" dirty="0">
                <a:solidFill>
                  <a:schemeClr val="bg1"/>
                </a:solidFill>
              </a:rPr>
              <a:t>Construction Work Place</a:t>
            </a:r>
            <a:endParaRPr lang="en-US" sz="4400" dirty="0"/>
          </a:p>
        </p:txBody>
      </p:sp>
      <p:sp>
        <p:nvSpPr>
          <p:cNvPr id="4" name="Text 1"/>
          <p:cNvSpPr/>
          <p:nvPr>
            <p:ph idx="102" type="body" hasCustomPrompt="1"/>
          </p:nvPr>
        </p:nvSpPr>
        <p:spPr>
          <a:xfrm>
            <a:off x="548640" y="2743200"/>
            <a:ext cx="4937760" cy="777240"/>
          </a:xfrm>
          <a:prstGeom prst="rect">
            <a:avLst/>
          </a:prstGeom>
          <a:noFill/>
          <a:ln/>
        </p:spPr>
        <p:txBody>
          <a:bodyPr wrap="square" lIns="0" tIns="0" rIns="0" bIns="0" rtlCol="0" anchor="t"/>
          <a:lstStyle/>
          <a:p>
            <a:pPr algn="l" indent="0" marL="0">
              <a:buNone/>
            </a:pPr>
            <a:r>
              <a:rPr lang="en-US" sz="1800" dirty="0">
                <a:solidFill>
                  <a:schemeClr val="bg2"/>
                </a:solidFill>
              </a:rPr>
              <a:t>An e-commerce web application for buying and managing construction materials</a:t>
            </a:r>
            <a:endParaRPr lang="en-US" sz="1800" dirty="0"/>
          </a:p>
        </p:txBody>
      </p:sp>
      <p:sp>
        <p:nvSpPr>
          <p:cNvPr id="5" name="text-2"/>
          <p:cNvSpPr txBox="1"/>
          <p:nvPr/>
        </p:nvSpPr>
        <p:spPr>
          <a:xfrm>
            <a:off x="548640" y="3657600"/>
            <a:ext cx="5120640" cy="274320"/>
          </a:xfrm>
          <a:prstGeom prst="rect">
            <a:avLst/>
          </a:prstGeom>
          <a:noFill/>
          <a:ln/>
        </p:spPr>
        <p:txBody>
          <a:bodyPr wrap="square" lIns="0" tIns="0" rIns="0" bIns="0" rtlCol="0" anchor="t"/>
          <a:lstStyle/>
          <a:p>
            <a:pPr indent="0" marL="0">
              <a:buNone/>
            </a:pPr>
            <a:r>
              <a:rPr lang="en-US" sz="1200" dirty="0">
                <a:solidFill>
                  <a:schemeClr val="bg2"/>
                </a:solidFill>
              </a:rPr>
              <a:t>React  ·  Redux Toolkit  ·  Context API  ·  React Router  ·  Bootstrap</a:t>
            </a:r>
            <a:endParaRPr lang="en-US" sz="1200" dirty="0"/>
          </a:p>
        </p:txBody>
      </p:sp>
      <p:sp>
        <p:nvSpPr>
          <p:cNvPr id="6" name="text-3"/>
          <p:cNvSpPr txBox="1"/>
          <p:nvPr/>
        </p:nvSpPr>
        <p:spPr>
          <a:xfrm>
            <a:off x="548640" y="4069080"/>
            <a:ext cx="4572000" cy="320040"/>
          </a:xfrm>
          <a:prstGeom prst="rect">
            <a:avLst/>
          </a:prstGeom>
          <a:noFill/>
          <a:ln/>
        </p:spPr>
        <p:txBody>
          <a:bodyPr wrap="square" lIns="0" tIns="0" rIns="0" bIns="0" rtlCol="0" anchor="t"/>
          <a:lstStyle/>
          <a:p>
            <a:pPr indent="0" marL="0">
              <a:buNone/>
            </a:pPr>
            <a:r>
              <a:rPr lang="en-US" sz="1800" b="1" dirty="0">
                <a:solidFill>
                  <a:schemeClr val="bg1"/>
                </a:solidFill>
              </a:rPr>
              <a:t>Deepak Tumma</a:t>
            </a:r>
            <a:endParaRPr lang="en-US" sz="1800" dirty="0"/>
          </a:p>
        </p:txBody>
      </p:sp>
      <p:sp>
        <p:nvSpPr>
          <p:cNvPr id="7" name="text-4"/>
          <p:cNvSpPr txBox="1"/>
          <p:nvPr/>
        </p:nvSpPr>
        <p:spPr>
          <a:xfrm>
            <a:off x="548640" y="4407408"/>
            <a:ext cx="4572000" cy="274320"/>
          </a:xfrm>
          <a:prstGeom prst="rect">
            <a:avLst/>
          </a:prstGeom>
          <a:noFill/>
          <a:ln/>
        </p:spPr>
        <p:txBody>
          <a:bodyPr wrap="square" lIns="0" tIns="0" rIns="0" bIns="0" rtlCol="0" anchor="t"/>
          <a:lstStyle/>
          <a:p>
            <a:pPr indent="0" marL="0">
              <a:buNone/>
            </a:pPr>
            <a:r>
              <a:rPr lang="en-US" sz="1200" dirty="0">
                <a:solidFill>
                  <a:schemeClr val="bg2"/>
                </a:solidFill>
              </a:rPr>
              <a:t>October 2026</a:t>
            </a:r>
            <a:endParaRPr lang="en-US" sz="1200" dirty="0"/>
          </a:p>
        </p:txBody>
      </p:sp>
      <p:sp>
        <p:nvSpPr>
          <p:cNvPr id="8" name="tile-5"/>
          <p:cNvSpPr/>
          <p:nvPr/>
        </p:nvSpPr>
        <p:spPr>
          <a:xfrm>
            <a:off x="5989320" y="1097280"/>
            <a:ext cx="1143000" cy="1143000"/>
          </a:xfrm>
          <a:prstGeom prst="roundRect">
            <a:avLst>
              <a:gd name="adj" fmla="val 9600"/>
            </a:avLst>
          </a:prstGeom>
          <a:solidFill>
            <a:schemeClr val="accent1"/>
          </a:solidFill>
          <a:ln/>
        </p:spPr>
      </p:sp>
      <p:pic>
        <p:nvPicPr>
          <p:cNvPr id="9" name="icon-6" descr="HardHat icon">    </p:cNvPr>
          <p:cNvPicPr>
            <a:picLocks noChangeAspect="1"/>
          </p:cNvPicPr>
          <p:nvPr/>
        </p:nvPicPr>
        <p:blipFill>
          <a:blip r:embed="rId1"/>
          <a:stretch>
            <a:fillRect/>
          </a:stretch>
        </p:blipFill>
        <p:spPr>
          <a:xfrm>
            <a:off x="6309360" y="1417320"/>
            <a:ext cx="502920" cy="502920"/>
          </a:xfrm>
          <a:prstGeom prst="rect">
            <a:avLst/>
          </a:prstGeom>
        </p:spPr>
      </p:pic>
      <p:sp>
        <p:nvSpPr>
          <p:cNvPr id="10" name="tile-7"/>
          <p:cNvSpPr/>
          <p:nvPr/>
        </p:nvSpPr>
        <p:spPr>
          <a:xfrm>
            <a:off x="7269480" y="1097280"/>
            <a:ext cx="1143000" cy="1143000"/>
          </a:xfrm>
          <a:prstGeom prst="roundRect">
            <a:avLst>
              <a:gd name="adj" fmla="val 9600"/>
            </a:avLst>
          </a:prstGeom>
          <a:solidFill>
            <a:schemeClr val="accent2"/>
          </a:solidFill>
          <a:ln/>
        </p:spPr>
      </p:sp>
      <p:pic>
        <p:nvPicPr>
          <p:cNvPr id="11" name="icon-8" descr="Truck icon">    </p:cNvPr>
          <p:cNvPicPr>
            <a:picLocks noChangeAspect="1"/>
          </p:cNvPicPr>
          <p:nvPr/>
        </p:nvPicPr>
        <p:blipFill>
          <a:blip r:embed="rId2"/>
          <a:stretch>
            <a:fillRect/>
          </a:stretch>
        </p:blipFill>
        <p:spPr>
          <a:xfrm>
            <a:off x="7589520" y="1417320"/>
            <a:ext cx="502920" cy="502920"/>
          </a:xfrm>
          <a:prstGeom prst="rect">
            <a:avLst/>
          </a:prstGeom>
        </p:spPr>
      </p:pic>
      <p:sp>
        <p:nvSpPr>
          <p:cNvPr id="12" name="tile-9"/>
          <p:cNvSpPr/>
          <p:nvPr/>
        </p:nvSpPr>
        <p:spPr>
          <a:xfrm>
            <a:off x="5989320" y="2377440"/>
            <a:ext cx="1143000" cy="1143000"/>
          </a:xfrm>
          <a:prstGeom prst="roundRect">
            <a:avLst>
              <a:gd name="adj" fmla="val 9600"/>
            </a:avLst>
          </a:prstGeom>
          <a:solidFill>
            <a:schemeClr val="accent3"/>
          </a:solidFill>
          <a:ln/>
        </p:spPr>
      </p:sp>
      <p:pic>
        <p:nvPicPr>
          <p:cNvPr id="13" name="icon-10" descr="Warehouse icon">    </p:cNvPr>
          <p:cNvPicPr>
            <a:picLocks noChangeAspect="1"/>
          </p:cNvPicPr>
          <p:nvPr/>
        </p:nvPicPr>
        <p:blipFill>
          <a:blip r:embed="rId3"/>
          <a:stretch>
            <a:fillRect/>
          </a:stretch>
        </p:blipFill>
        <p:spPr>
          <a:xfrm>
            <a:off x="6309360" y="2697480"/>
            <a:ext cx="502920" cy="502920"/>
          </a:xfrm>
          <a:prstGeom prst="rect">
            <a:avLst/>
          </a:prstGeom>
        </p:spPr>
      </p:pic>
      <p:sp>
        <p:nvSpPr>
          <p:cNvPr id="14" name="tile-11"/>
          <p:cNvSpPr/>
          <p:nvPr/>
        </p:nvSpPr>
        <p:spPr>
          <a:xfrm>
            <a:off x="7269480" y="2377440"/>
            <a:ext cx="1143000" cy="1143000"/>
          </a:xfrm>
          <a:prstGeom prst="roundRect">
            <a:avLst>
              <a:gd name="adj" fmla="val 9600"/>
            </a:avLst>
          </a:prstGeom>
          <a:solidFill>
            <a:schemeClr val="bg2"/>
          </a:solidFill>
          <a:ln/>
        </p:spPr>
      </p:sp>
      <p:pic>
        <p:nvPicPr>
          <p:cNvPr id="15" name="icon-12" descr="Tools icon">    </p:cNvPr>
          <p:cNvPicPr>
            <a:picLocks noChangeAspect="1"/>
          </p:cNvPicPr>
          <p:nvPr/>
        </p:nvPicPr>
        <p:blipFill>
          <a:blip r:embed="rId4"/>
          <a:stretch>
            <a:fillRect/>
          </a:stretch>
        </p:blipFill>
        <p:spPr>
          <a:xfrm>
            <a:off x="7589520" y="269748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Project at a glance</a:t>
            </a:r>
            <a:endParaRPr lang="en-US" sz="3400" dirty="0"/>
          </a:p>
        </p:txBody>
      </p:sp>
      <p:sp>
        <p:nvSpPr>
          <p:cNvPr id="3" name="card-13"/>
          <p:cNvSpPr/>
          <p:nvPr/>
        </p:nvSpPr>
        <p:spPr>
          <a:xfrm>
            <a:off x="457200" y="1188720"/>
            <a:ext cx="1874520" cy="1783080"/>
          </a:xfrm>
          <a:prstGeom prst="roundRect">
            <a:avLst>
              <a:gd name="adj" fmla="val 5128"/>
            </a:avLst>
          </a:prstGeom>
          <a:solidFill>
            <a:schemeClr val="bg2"/>
          </a:solidFill>
          <a:ln/>
        </p:spPr>
      </p:sp>
      <p:sp>
        <p:nvSpPr>
          <p:cNvPr id="4" name="iconbg-14"/>
          <p:cNvSpPr/>
          <p:nvPr/>
        </p:nvSpPr>
        <p:spPr>
          <a:xfrm>
            <a:off x="640080" y="1353312"/>
            <a:ext cx="457200" cy="457200"/>
          </a:xfrm>
          <a:prstGeom prst="ellipse">
            <a:avLst/>
          </a:prstGeom>
          <a:solidFill>
            <a:schemeClr val="accent1"/>
          </a:solidFill>
          <a:ln/>
        </p:spPr>
      </p:sp>
      <p:pic>
        <p:nvPicPr>
          <p:cNvPr id="5" name="icon-15" descr="Route icon">    </p:cNvPr>
          <p:cNvPicPr>
            <a:picLocks noChangeAspect="1"/>
          </p:cNvPicPr>
          <p:nvPr/>
        </p:nvPicPr>
        <p:blipFill>
          <a:blip r:embed="rId1"/>
          <a:stretch>
            <a:fillRect/>
          </a:stretch>
        </p:blipFill>
        <p:spPr>
          <a:xfrm>
            <a:off x="754380" y="1467612"/>
            <a:ext cx="228600" cy="228600"/>
          </a:xfrm>
          <a:prstGeom prst="rect">
            <a:avLst/>
          </a:prstGeom>
        </p:spPr>
      </p:pic>
      <p:sp>
        <p:nvSpPr>
          <p:cNvPr id="6" name="text-16"/>
          <p:cNvSpPr txBox="1"/>
          <p:nvPr/>
        </p:nvSpPr>
        <p:spPr>
          <a:xfrm>
            <a:off x="640080" y="1901952"/>
            <a:ext cx="1554480" cy="5029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19</a:t>
            </a:r>
            <a:endParaRPr lang="en-US" sz="3200" dirty="0"/>
          </a:p>
        </p:txBody>
      </p:sp>
      <p:sp>
        <p:nvSpPr>
          <p:cNvPr id="7" name="text-17"/>
          <p:cNvSpPr txBox="1"/>
          <p:nvPr/>
        </p:nvSpPr>
        <p:spPr>
          <a:xfrm>
            <a:off x="640080" y="2450592"/>
            <a:ext cx="1554480" cy="457200"/>
          </a:xfrm>
          <a:prstGeom prst="rect">
            <a:avLst/>
          </a:prstGeom>
          <a:noFill/>
          <a:ln/>
        </p:spPr>
        <p:txBody>
          <a:bodyPr wrap="square" lIns="0" tIns="0" rIns="0" bIns="0" rtlCol="0" anchor="t"/>
          <a:lstStyle/>
          <a:p>
            <a:pPr indent="0" marL="0">
              <a:buNone/>
            </a:pPr>
            <a:r>
              <a:rPr lang="en-US" sz="1400" dirty="0">
                <a:solidFill>
                  <a:schemeClr val="accent3"/>
                </a:solidFill>
              </a:rPr>
              <a:t>Routes: public, customer, admin</a:t>
            </a:r>
            <a:endParaRPr lang="en-US" sz="1400" dirty="0"/>
          </a:p>
        </p:txBody>
      </p:sp>
      <p:sp>
        <p:nvSpPr>
          <p:cNvPr id="8" name="card-18"/>
          <p:cNvSpPr/>
          <p:nvPr/>
        </p:nvSpPr>
        <p:spPr>
          <a:xfrm>
            <a:off x="2575590" y="1188720"/>
            <a:ext cx="1874520" cy="1783080"/>
          </a:xfrm>
          <a:prstGeom prst="roundRect">
            <a:avLst>
              <a:gd name="adj" fmla="val 5128"/>
            </a:avLst>
          </a:prstGeom>
          <a:solidFill>
            <a:schemeClr val="bg2"/>
          </a:solidFill>
          <a:ln/>
        </p:spPr>
      </p:sp>
      <p:sp>
        <p:nvSpPr>
          <p:cNvPr id="9" name="iconbg-19"/>
          <p:cNvSpPr/>
          <p:nvPr/>
        </p:nvSpPr>
        <p:spPr>
          <a:xfrm>
            <a:off x="2758470" y="1353312"/>
            <a:ext cx="457200" cy="457200"/>
          </a:xfrm>
          <a:prstGeom prst="ellipse">
            <a:avLst/>
          </a:prstGeom>
          <a:solidFill>
            <a:schemeClr val="accent1"/>
          </a:solidFill>
          <a:ln/>
        </p:spPr>
      </p:sp>
      <p:pic>
        <p:nvPicPr>
          <p:cNvPr id="10" name="icon-20" descr="LayerGroup icon">    </p:cNvPr>
          <p:cNvPicPr>
            <a:picLocks noChangeAspect="1"/>
          </p:cNvPicPr>
          <p:nvPr/>
        </p:nvPicPr>
        <p:blipFill>
          <a:blip r:embed="rId2"/>
          <a:stretch>
            <a:fillRect/>
          </a:stretch>
        </p:blipFill>
        <p:spPr>
          <a:xfrm>
            <a:off x="2872770" y="1467612"/>
            <a:ext cx="228600" cy="228600"/>
          </a:xfrm>
          <a:prstGeom prst="rect">
            <a:avLst/>
          </a:prstGeom>
        </p:spPr>
      </p:pic>
      <p:sp>
        <p:nvSpPr>
          <p:cNvPr id="11" name="text-21"/>
          <p:cNvSpPr txBox="1"/>
          <p:nvPr/>
        </p:nvSpPr>
        <p:spPr>
          <a:xfrm>
            <a:off x="2758470" y="1901952"/>
            <a:ext cx="1554480" cy="5029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4</a:t>
            </a:r>
            <a:endParaRPr lang="en-US" sz="3200" dirty="0"/>
          </a:p>
        </p:txBody>
      </p:sp>
      <p:sp>
        <p:nvSpPr>
          <p:cNvPr id="12" name="text-22"/>
          <p:cNvSpPr txBox="1"/>
          <p:nvPr/>
        </p:nvSpPr>
        <p:spPr>
          <a:xfrm>
            <a:off x="2758470" y="2450592"/>
            <a:ext cx="1554480" cy="457200"/>
          </a:xfrm>
          <a:prstGeom prst="rect">
            <a:avLst/>
          </a:prstGeom>
          <a:noFill/>
          <a:ln/>
        </p:spPr>
        <p:txBody>
          <a:bodyPr wrap="square" lIns="0" tIns="0" rIns="0" bIns="0" rtlCol="0" anchor="t"/>
          <a:lstStyle/>
          <a:p>
            <a:pPr indent="0" marL="0">
              <a:buNone/>
            </a:pPr>
            <a:r>
              <a:rPr lang="en-US" sz="1400" dirty="0">
                <a:solidFill>
                  <a:schemeClr val="accent3"/>
                </a:solidFill>
              </a:rPr>
              <a:t>Redux slices</a:t>
            </a:r>
            <a:endParaRPr lang="en-US" sz="1400" dirty="0"/>
          </a:p>
        </p:txBody>
      </p:sp>
      <p:sp>
        <p:nvSpPr>
          <p:cNvPr id="13" name="card-23"/>
          <p:cNvSpPr/>
          <p:nvPr/>
        </p:nvSpPr>
        <p:spPr>
          <a:xfrm>
            <a:off x="4693981" y="1188720"/>
            <a:ext cx="1874520" cy="1783080"/>
          </a:xfrm>
          <a:prstGeom prst="roundRect">
            <a:avLst>
              <a:gd name="adj" fmla="val 5128"/>
            </a:avLst>
          </a:prstGeom>
          <a:solidFill>
            <a:schemeClr val="bg2"/>
          </a:solidFill>
          <a:ln/>
        </p:spPr>
      </p:sp>
      <p:sp>
        <p:nvSpPr>
          <p:cNvPr id="14" name="iconbg-24"/>
          <p:cNvSpPr/>
          <p:nvPr/>
        </p:nvSpPr>
        <p:spPr>
          <a:xfrm>
            <a:off x="4876861" y="1353312"/>
            <a:ext cx="457200" cy="457200"/>
          </a:xfrm>
          <a:prstGeom prst="ellipse">
            <a:avLst/>
          </a:prstGeom>
          <a:solidFill>
            <a:schemeClr val="accent1"/>
          </a:solidFill>
          <a:ln/>
        </p:spPr>
      </p:sp>
      <p:pic>
        <p:nvPicPr>
          <p:cNvPr id="15" name="icon-25" descr="Users icon">    </p:cNvPr>
          <p:cNvPicPr>
            <a:picLocks noChangeAspect="1"/>
          </p:cNvPicPr>
          <p:nvPr/>
        </p:nvPicPr>
        <p:blipFill>
          <a:blip r:embed="rId3"/>
          <a:stretch>
            <a:fillRect/>
          </a:stretch>
        </p:blipFill>
        <p:spPr>
          <a:xfrm>
            <a:off x="4991161" y="1467612"/>
            <a:ext cx="228600" cy="228600"/>
          </a:xfrm>
          <a:prstGeom prst="rect">
            <a:avLst/>
          </a:prstGeom>
        </p:spPr>
      </p:pic>
      <p:sp>
        <p:nvSpPr>
          <p:cNvPr id="16" name="text-26"/>
          <p:cNvSpPr txBox="1"/>
          <p:nvPr/>
        </p:nvSpPr>
        <p:spPr>
          <a:xfrm>
            <a:off x="4876861" y="1901952"/>
            <a:ext cx="1554480" cy="5029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2</a:t>
            </a:r>
            <a:endParaRPr lang="en-US" sz="3200" dirty="0"/>
          </a:p>
        </p:txBody>
      </p:sp>
      <p:sp>
        <p:nvSpPr>
          <p:cNvPr id="17" name="text-27"/>
          <p:cNvSpPr txBox="1"/>
          <p:nvPr/>
        </p:nvSpPr>
        <p:spPr>
          <a:xfrm>
            <a:off x="4876861" y="2450592"/>
            <a:ext cx="1554480" cy="457200"/>
          </a:xfrm>
          <a:prstGeom prst="rect">
            <a:avLst/>
          </a:prstGeom>
          <a:noFill/>
          <a:ln/>
        </p:spPr>
        <p:txBody>
          <a:bodyPr wrap="square" lIns="0" tIns="0" rIns="0" bIns="0" rtlCol="0" anchor="t"/>
          <a:lstStyle/>
          <a:p>
            <a:pPr indent="0" marL="0">
              <a:buNone/>
            </a:pPr>
            <a:r>
              <a:rPr lang="en-US" sz="1400" dirty="0">
                <a:solidFill>
                  <a:schemeClr val="accent3"/>
                </a:solidFill>
              </a:rPr>
              <a:t>User roles: customer, admin</a:t>
            </a:r>
            <a:endParaRPr lang="en-US" sz="1400" dirty="0"/>
          </a:p>
        </p:txBody>
      </p:sp>
      <p:sp>
        <p:nvSpPr>
          <p:cNvPr id="18" name="card-28"/>
          <p:cNvSpPr/>
          <p:nvPr/>
        </p:nvSpPr>
        <p:spPr>
          <a:xfrm>
            <a:off x="6812371" y="1188720"/>
            <a:ext cx="1874520" cy="1783080"/>
          </a:xfrm>
          <a:prstGeom prst="roundRect">
            <a:avLst>
              <a:gd name="adj" fmla="val 5128"/>
            </a:avLst>
          </a:prstGeom>
          <a:solidFill>
            <a:schemeClr val="bg2"/>
          </a:solidFill>
          <a:ln/>
        </p:spPr>
      </p:sp>
      <p:sp>
        <p:nvSpPr>
          <p:cNvPr id="19" name="iconbg-29"/>
          <p:cNvSpPr/>
          <p:nvPr/>
        </p:nvSpPr>
        <p:spPr>
          <a:xfrm>
            <a:off x="6995251" y="1353312"/>
            <a:ext cx="457200" cy="457200"/>
          </a:xfrm>
          <a:prstGeom prst="ellipse">
            <a:avLst/>
          </a:prstGeom>
          <a:solidFill>
            <a:schemeClr val="accent1"/>
          </a:solidFill>
          <a:ln/>
        </p:spPr>
      </p:sp>
      <p:pic>
        <p:nvPicPr>
          <p:cNvPr id="20" name="icon-30" descr="Code icon">    </p:cNvPr>
          <p:cNvPicPr>
            <a:picLocks noChangeAspect="1"/>
          </p:cNvPicPr>
          <p:nvPr/>
        </p:nvPicPr>
        <p:blipFill>
          <a:blip r:embed="rId4"/>
          <a:stretch>
            <a:fillRect/>
          </a:stretch>
        </p:blipFill>
        <p:spPr>
          <a:xfrm>
            <a:off x="7109551" y="1467612"/>
            <a:ext cx="228600" cy="228600"/>
          </a:xfrm>
          <a:prstGeom prst="rect">
            <a:avLst/>
          </a:prstGeom>
        </p:spPr>
      </p:pic>
      <p:sp>
        <p:nvSpPr>
          <p:cNvPr id="21" name="text-31"/>
          <p:cNvSpPr txBox="1"/>
          <p:nvPr/>
        </p:nvSpPr>
        <p:spPr>
          <a:xfrm>
            <a:off x="6995251" y="1901952"/>
            <a:ext cx="1554480" cy="5029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5,000+</a:t>
            </a:r>
            <a:endParaRPr lang="en-US" sz="3200" dirty="0"/>
          </a:p>
        </p:txBody>
      </p:sp>
      <p:sp>
        <p:nvSpPr>
          <p:cNvPr id="22" name="text-32"/>
          <p:cNvSpPr txBox="1"/>
          <p:nvPr/>
        </p:nvSpPr>
        <p:spPr>
          <a:xfrm>
            <a:off x="6995251" y="2450592"/>
            <a:ext cx="1554480" cy="457200"/>
          </a:xfrm>
          <a:prstGeom prst="rect">
            <a:avLst/>
          </a:prstGeom>
          <a:noFill/>
          <a:ln/>
        </p:spPr>
        <p:txBody>
          <a:bodyPr wrap="square" lIns="0" tIns="0" rIns="0" bIns="0" rtlCol="0" anchor="t"/>
          <a:lstStyle/>
          <a:p>
            <a:pPr indent="0" marL="0">
              <a:buNone/>
            </a:pPr>
            <a:r>
              <a:rPr lang="en-US" sz="1400" dirty="0">
                <a:solidFill>
                  <a:schemeClr val="accent3"/>
                </a:solidFill>
              </a:rPr>
              <a:t>Lines of JSX and CSS</a:t>
            </a:r>
            <a:endParaRPr lang="en-US" sz="1400" dirty="0"/>
          </a:p>
        </p:txBody>
      </p:sp>
      <p:sp>
        <p:nvSpPr>
          <p:cNvPr id="23" name="card-33"/>
          <p:cNvSpPr/>
          <p:nvPr/>
        </p:nvSpPr>
        <p:spPr>
          <a:xfrm>
            <a:off x="457200" y="3200400"/>
            <a:ext cx="2560320" cy="1371600"/>
          </a:xfrm>
          <a:prstGeom prst="roundRect">
            <a:avLst>
              <a:gd name="adj" fmla="val 6667"/>
            </a:avLst>
          </a:prstGeom>
          <a:solidFill>
            <a:schemeClr val="bg1"/>
          </a:solidFill>
          <a:ln w="12700">
            <a:solidFill>
              <a:srgbClr val="D5DADF"/>
            </a:solidFill>
            <a:prstDash val="solid"/>
          </a:ln>
        </p:spPr>
      </p:sp>
      <p:sp>
        <p:nvSpPr>
          <p:cNvPr id="24" name="iconbg-34"/>
          <p:cNvSpPr/>
          <p:nvPr/>
        </p:nvSpPr>
        <p:spPr>
          <a:xfrm>
            <a:off x="640080" y="3364992"/>
            <a:ext cx="457200" cy="457200"/>
          </a:xfrm>
          <a:prstGeom prst="ellipse">
            <a:avLst/>
          </a:prstGeom>
          <a:solidFill>
            <a:schemeClr val="accent2"/>
          </a:solidFill>
          <a:ln/>
        </p:spPr>
      </p:sp>
      <p:pic>
        <p:nvPicPr>
          <p:cNvPr id="25" name="icon-35" descr="Store icon">    </p:cNvPr>
          <p:cNvPicPr>
            <a:picLocks noChangeAspect="1"/>
          </p:cNvPicPr>
          <p:nvPr/>
        </p:nvPicPr>
        <p:blipFill>
          <a:blip r:embed="rId5"/>
          <a:stretch>
            <a:fillRect/>
          </a:stretch>
        </p:blipFill>
        <p:spPr>
          <a:xfrm>
            <a:off x="754380" y="3479292"/>
            <a:ext cx="228600" cy="228600"/>
          </a:xfrm>
          <a:prstGeom prst="rect">
            <a:avLst/>
          </a:prstGeom>
        </p:spPr>
      </p:pic>
      <p:sp>
        <p:nvSpPr>
          <p:cNvPr id="26" name="text-36"/>
          <p:cNvSpPr txBox="1"/>
          <p:nvPr/>
        </p:nvSpPr>
        <p:spPr>
          <a:xfrm>
            <a:off x="1234440" y="3364992"/>
            <a:ext cx="16459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Guest</a:t>
            </a:r>
            <a:endParaRPr lang="en-US" sz="1800" dirty="0"/>
          </a:p>
        </p:txBody>
      </p:sp>
      <p:sp>
        <p:nvSpPr>
          <p:cNvPr id="27" name="text-37"/>
          <p:cNvSpPr txBox="1"/>
          <p:nvPr/>
        </p:nvSpPr>
        <p:spPr>
          <a:xfrm>
            <a:off x="640080" y="3913632"/>
            <a:ext cx="2240280" cy="594360"/>
          </a:xfrm>
          <a:prstGeom prst="rect">
            <a:avLst/>
          </a:prstGeom>
          <a:noFill/>
          <a:ln/>
        </p:spPr>
        <p:txBody>
          <a:bodyPr wrap="square" lIns="0" tIns="0" rIns="0" bIns="0" rtlCol="0" anchor="t"/>
          <a:lstStyle/>
          <a:p>
            <a:pPr indent="0" marL="0">
              <a:buNone/>
            </a:pPr>
            <a:r>
              <a:rPr lang="en-US" sz="1400" dirty="0">
                <a:solidFill>
                  <a:schemeClr val="accent3"/>
                </a:solidFill>
              </a:rPr>
              <a:t>Browse, search and filter the catalogue</a:t>
            </a:r>
            <a:endParaRPr lang="en-US" sz="1400" dirty="0"/>
          </a:p>
        </p:txBody>
      </p:sp>
      <p:sp>
        <p:nvSpPr>
          <p:cNvPr id="28" name="card-38"/>
          <p:cNvSpPr/>
          <p:nvPr/>
        </p:nvSpPr>
        <p:spPr>
          <a:xfrm>
            <a:off x="3291840" y="3200400"/>
            <a:ext cx="2560320" cy="1371600"/>
          </a:xfrm>
          <a:prstGeom prst="roundRect">
            <a:avLst>
              <a:gd name="adj" fmla="val 6667"/>
            </a:avLst>
          </a:prstGeom>
          <a:solidFill>
            <a:schemeClr val="bg1"/>
          </a:solidFill>
          <a:ln w="12700">
            <a:solidFill>
              <a:srgbClr val="D5DADF"/>
            </a:solidFill>
            <a:prstDash val="solid"/>
          </a:ln>
        </p:spPr>
      </p:sp>
      <p:sp>
        <p:nvSpPr>
          <p:cNvPr id="29" name="iconbg-39"/>
          <p:cNvSpPr/>
          <p:nvPr/>
        </p:nvSpPr>
        <p:spPr>
          <a:xfrm>
            <a:off x="3474720" y="3364992"/>
            <a:ext cx="457200" cy="457200"/>
          </a:xfrm>
          <a:prstGeom prst="ellipse">
            <a:avLst/>
          </a:prstGeom>
          <a:solidFill>
            <a:schemeClr val="accent3"/>
          </a:solidFill>
          <a:ln/>
        </p:spPr>
      </p:sp>
      <p:pic>
        <p:nvPicPr>
          <p:cNvPr id="30" name="icon-40" descr="ShoppingCart icon">    </p:cNvPr>
          <p:cNvPicPr>
            <a:picLocks noChangeAspect="1"/>
          </p:cNvPicPr>
          <p:nvPr/>
        </p:nvPicPr>
        <p:blipFill>
          <a:blip r:embed="rId6"/>
          <a:stretch>
            <a:fillRect/>
          </a:stretch>
        </p:blipFill>
        <p:spPr>
          <a:xfrm>
            <a:off x="3589020" y="3479292"/>
            <a:ext cx="228600" cy="228600"/>
          </a:xfrm>
          <a:prstGeom prst="rect">
            <a:avLst/>
          </a:prstGeom>
        </p:spPr>
      </p:pic>
      <p:sp>
        <p:nvSpPr>
          <p:cNvPr id="31" name="text-41"/>
          <p:cNvSpPr txBox="1"/>
          <p:nvPr/>
        </p:nvSpPr>
        <p:spPr>
          <a:xfrm>
            <a:off x="4069080" y="3364992"/>
            <a:ext cx="16459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Customer</a:t>
            </a:r>
            <a:endParaRPr lang="en-US" sz="1800" dirty="0"/>
          </a:p>
        </p:txBody>
      </p:sp>
      <p:sp>
        <p:nvSpPr>
          <p:cNvPr id="32" name="text-42"/>
          <p:cNvSpPr txBox="1"/>
          <p:nvPr/>
        </p:nvSpPr>
        <p:spPr>
          <a:xfrm>
            <a:off x="3474720" y="3913632"/>
            <a:ext cx="2240280" cy="594360"/>
          </a:xfrm>
          <a:prstGeom prst="rect">
            <a:avLst/>
          </a:prstGeom>
          <a:noFill/>
          <a:ln/>
        </p:spPr>
        <p:txBody>
          <a:bodyPr wrap="square" lIns="0" tIns="0" rIns="0" bIns="0" rtlCol="0" anchor="t"/>
          <a:lstStyle/>
          <a:p>
            <a:pPr indent="0" marL="0">
              <a:buNone/>
            </a:pPr>
            <a:r>
              <a:rPr lang="en-US" sz="1400" dirty="0">
                <a:solidFill>
                  <a:schemeClr val="accent3"/>
                </a:solidFill>
              </a:rPr>
              <a:t>Cart, wishlist, checkout, order history and profile</a:t>
            </a:r>
            <a:endParaRPr lang="en-US" sz="1400" dirty="0"/>
          </a:p>
        </p:txBody>
      </p:sp>
      <p:sp>
        <p:nvSpPr>
          <p:cNvPr id="33" name="card-43"/>
          <p:cNvSpPr/>
          <p:nvPr/>
        </p:nvSpPr>
        <p:spPr>
          <a:xfrm>
            <a:off x="6126480" y="3200400"/>
            <a:ext cx="2560320" cy="1371600"/>
          </a:xfrm>
          <a:prstGeom prst="roundRect">
            <a:avLst>
              <a:gd name="adj" fmla="val 6667"/>
            </a:avLst>
          </a:prstGeom>
          <a:solidFill>
            <a:schemeClr val="bg1"/>
          </a:solidFill>
          <a:ln w="12700">
            <a:solidFill>
              <a:srgbClr val="D5DADF"/>
            </a:solidFill>
            <a:prstDash val="solid"/>
          </a:ln>
        </p:spPr>
      </p:sp>
      <p:sp>
        <p:nvSpPr>
          <p:cNvPr id="34" name="iconbg-44"/>
          <p:cNvSpPr/>
          <p:nvPr/>
        </p:nvSpPr>
        <p:spPr>
          <a:xfrm>
            <a:off x="6309360" y="3364992"/>
            <a:ext cx="457200" cy="457200"/>
          </a:xfrm>
          <a:prstGeom prst="ellipse">
            <a:avLst/>
          </a:prstGeom>
          <a:solidFill>
            <a:schemeClr val="tx2"/>
          </a:solidFill>
          <a:ln/>
        </p:spPr>
      </p:sp>
      <p:pic>
        <p:nvPicPr>
          <p:cNvPr id="35" name="icon-45" descr="UserShield icon">    </p:cNvPr>
          <p:cNvPicPr>
            <a:picLocks noChangeAspect="1"/>
          </p:cNvPicPr>
          <p:nvPr/>
        </p:nvPicPr>
        <p:blipFill>
          <a:blip r:embed="rId7"/>
          <a:stretch>
            <a:fillRect/>
          </a:stretch>
        </p:blipFill>
        <p:spPr>
          <a:xfrm>
            <a:off x="6423660" y="3479292"/>
            <a:ext cx="228600" cy="228600"/>
          </a:xfrm>
          <a:prstGeom prst="rect">
            <a:avLst/>
          </a:prstGeom>
        </p:spPr>
      </p:pic>
      <p:sp>
        <p:nvSpPr>
          <p:cNvPr id="36" name="text-46"/>
          <p:cNvSpPr txBox="1"/>
          <p:nvPr/>
        </p:nvSpPr>
        <p:spPr>
          <a:xfrm>
            <a:off x="6903720" y="3364992"/>
            <a:ext cx="16459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Admin</a:t>
            </a:r>
            <a:endParaRPr lang="en-US" sz="1800" dirty="0"/>
          </a:p>
        </p:txBody>
      </p:sp>
      <p:sp>
        <p:nvSpPr>
          <p:cNvPr id="37" name="text-47"/>
          <p:cNvSpPr txBox="1"/>
          <p:nvPr/>
        </p:nvSpPr>
        <p:spPr>
          <a:xfrm>
            <a:off x="6309360" y="3913632"/>
            <a:ext cx="2240280" cy="594360"/>
          </a:xfrm>
          <a:prstGeom prst="rect">
            <a:avLst/>
          </a:prstGeom>
          <a:noFill/>
          <a:ln/>
        </p:spPr>
        <p:txBody>
          <a:bodyPr wrap="square" lIns="0" tIns="0" rIns="0" bIns="0" rtlCol="0" anchor="t"/>
          <a:lstStyle/>
          <a:p>
            <a:pPr indent="0" marL="0">
              <a:buNone/>
            </a:pPr>
            <a:r>
              <a:rPr lang="en-US" sz="1400" dirty="0">
                <a:solidFill>
                  <a:schemeClr val="accent3"/>
                </a:solidFill>
              </a:rPr>
              <a:t>Products, orders, customers and stock alerts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Problem and objectives</a:t>
            </a:r>
            <a:endParaRPr lang="en-US" sz="3400" dirty="0"/>
          </a:p>
        </p:txBody>
      </p:sp>
      <p:sp>
        <p:nvSpPr>
          <p:cNvPr id="3" name="card-48"/>
          <p:cNvSpPr/>
          <p:nvPr/>
        </p:nvSpPr>
        <p:spPr>
          <a:xfrm>
            <a:off x="457200" y="1188720"/>
            <a:ext cx="3291840" cy="3383280"/>
          </a:xfrm>
          <a:prstGeom prst="roundRect">
            <a:avLst>
              <a:gd name="adj" fmla="val 2778"/>
            </a:avLst>
          </a:prstGeom>
          <a:solidFill>
            <a:schemeClr val="tx2"/>
          </a:solidFill>
          <a:ln/>
        </p:spPr>
      </p:sp>
      <p:sp>
        <p:nvSpPr>
          <p:cNvPr id="4" name="text-49"/>
          <p:cNvSpPr txBox="1"/>
          <p:nvPr/>
        </p:nvSpPr>
        <p:spPr>
          <a:xfrm>
            <a:off x="731520" y="141732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5" name="text-50"/>
          <p:cNvSpPr txBox="1"/>
          <p:nvPr/>
        </p:nvSpPr>
        <p:spPr>
          <a:xfrm>
            <a:off x="731520" y="1783080"/>
            <a:ext cx="2743200" cy="1554480"/>
          </a:xfrm>
          <a:prstGeom prst="rect">
            <a:avLst/>
          </a:prstGeom>
          <a:noFill/>
          <a:ln/>
        </p:spPr>
        <p:txBody>
          <a:bodyPr wrap="square" lIns="0" tIns="0" rIns="0" bIns="0" rtlCol="0" anchor="t"/>
          <a:lstStyle/>
          <a:p>
            <a:pPr indent="0" marL="0">
              <a:buNone/>
            </a:pPr>
            <a:r>
              <a:rPr lang="en-US" sz="1800" dirty="0">
                <a:solidFill>
                  <a:schemeClr val="bg1"/>
                </a:solidFill>
              </a:rPr>
              <a:t>Ordering building materials is still largely manual: calls, site visits and paper quotes, with little view of price or stock.</a:t>
            </a:r>
            <a:endParaRPr lang="en-US" sz="1800" dirty="0"/>
          </a:p>
        </p:txBody>
      </p:sp>
      <p:sp>
        <p:nvSpPr>
          <p:cNvPr id="6" name="text-51"/>
          <p:cNvSpPr txBox="1"/>
          <p:nvPr/>
        </p:nvSpPr>
        <p:spPr>
          <a:xfrm>
            <a:off x="731520" y="338328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APPROACH</a:t>
            </a:r>
            <a:endParaRPr lang="en-US" sz="1200" dirty="0"/>
          </a:p>
        </p:txBody>
      </p:sp>
      <p:sp>
        <p:nvSpPr>
          <p:cNvPr id="7" name="text-52"/>
          <p:cNvSpPr txBox="1"/>
          <p:nvPr/>
        </p:nvSpPr>
        <p:spPr>
          <a:xfrm>
            <a:off x="731520" y="3703320"/>
            <a:ext cx="2743200" cy="777240"/>
          </a:xfrm>
          <a:prstGeom prst="rect">
            <a:avLst/>
          </a:prstGeom>
          <a:noFill/>
          <a:ln/>
        </p:spPr>
        <p:txBody>
          <a:bodyPr wrap="square" lIns="0" tIns="0" rIns="0" bIns="0" rtlCol="0" anchor="t"/>
          <a:lstStyle/>
          <a:p>
            <a:pPr indent="0" marL="0">
              <a:buNone/>
            </a:pPr>
            <a:r>
              <a:rPr lang="en-US" sz="1400" dirty="0">
                <a:solidFill>
                  <a:schemeClr val="bg2"/>
                </a:solidFill>
              </a:rPr>
              <a:t>One web store where customers order online and admins control the catalogue.</a:t>
            </a:r>
            <a:endParaRPr lang="en-US" sz="1400" dirty="0"/>
          </a:p>
        </p:txBody>
      </p:sp>
      <p:sp>
        <p:nvSpPr>
          <p:cNvPr id="8" name="iconbg-53"/>
          <p:cNvSpPr/>
          <p:nvPr/>
        </p:nvSpPr>
        <p:spPr>
          <a:xfrm>
            <a:off x="4114800" y="1280160"/>
            <a:ext cx="548640" cy="548640"/>
          </a:xfrm>
          <a:prstGeom prst="ellipse">
            <a:avLst/>
          </a:prstGeom>
          <a:solidFill>
            <a:schemeClr val="accent2"/>
          </a:solidFill>
          <a:ln/>
        </p:spPr>
      </p:sp>
      <p:pic>
        <p:nvPicPr>
          <p:cNvPr id="9" name="icon-54" descr="Search icon">    </p:cNvPr>
          <p:cNvPicPr>
            <a:picLocks noChangeAspect="1"/>
          </p:cNvPicPr>
          <p:nvPr/>
        </p:nvPicPr>
        <p:blipFill>
          <a:blip r:embed="rId1"/>
          <a:stretch>
            <a:fillRect/>
          </a:stretch>
        </p:blipFill>
        <p:spPr>
          <a:xfrm>
            <a:off x="4251960" y="1417320"/>
            <a:ext cx="274320" cy="274320"/>
          </a:xfrm>
          <a:prstGeom prst="rect">
            <a:avLst/>
          </a:prstGeom>
        </p:spPr>
      </p:pic>
      <p:sp>
        <p:nvSpPr>
          <p:cNvPr id="10" name="text-55"/>
          <p:cNvSpPr txBox="1"/>
          <p:nvPr/>
        </p:nvSpPr>
        <p:spPr>
          <a:xfrm>
            <a:off x="4846320" y="1234440"/>
            <a:ext cx="384048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Discover</a:t>
            </a:r>
            <a:endParaRPr lang="en-US" sz="1800" dirty="0"/>
          </a:p>
        </p:txBody>
      </p:sp>
      <p:sp>
        <p:nvSpPr>
          <p:cNvPr id="11" name="text-56"/>
          <p:cNvSpPr txBox="1"/>
          <p:nvPr/>
        </p:nvSpPr>
        <p:spPr>
          <a:xfrm>
            <a:off x="4846320" y="1572768"/>
            <a:ext cx="3840480" cy="457200"/>
          </a:xfrm>
          <a:prstGeom prst="rect">
            <a:avLst/>
          </a:prstGeom>
          <a:noFill/>
          <a:ln/>
        </p:spPr>
        <p:txBody>
          <a:bodyPr wrap="square" lIns="0" tIns="0" rIns="0" bIns="0" rtlCol="0" anchor="t"/>
          <a:lstStyle/>
          <a:p>
            <a:pPr indent="0" marL="0">
              <a:buNone/>
            </a:pPr>
            <a:r>
              <a:rPr lang="en-US" sz="1400" dirty="0">
                <a:solidFill>
                  <a:schemeClr val="accent3"/>
                </a:solidFill>
              </a:rPr>
              <a:t>Searchable, filterable catalogue with live stock</a:t>
            </a:r>
            <a:endParaRPr lang="en-US" sz="1400" dirty="0"/>
          </a:p>
        </p:txBody>
      </p:sp>
      <p:sp>
        <p:nvSpPr>
          <p:cNvPr id="12" name="iconbg-57"/>
          <p:cNvSpPr/>
          <p:nvPr/>
        </p:nvSpPr>
        <p:spPr>
          <a:xfrm>
            <a:off x="4114800" y="2148840"/>
            <a:ext cx="548640" cy="548640"/>
          </a:xfrm>
          <a:prstGeom prst="ellipse">
            <a:avLst/>
          </a:prstGeom>
          <a:solidFill>
            <a:schemeClr val="accent2"/>
          </a:solidFill>
          <a:ln/>
        </p:spPr>
      </p:sp>
      <p:pic>
        <p:nvPicPr>
          <p:cNvPr id="13" name="icon-58" descr="ShoppingCart icon">    </p:cNvPr>
          <p:cNvPicPr>
            <a:picLocks noChangeAspect="1"/>
          </p:cNvPicPr>
          <p:nvPr/>
        </p:nvPicPr>
        <p:blipFill>
          <a:blip r:embed="rId2"/>
          <a:stretch>
            <a:fillRect/>
          </a:stretch>
        </p:blipFill>
        <p:spPr>
          <a:xfrm>
            <a:off x="4251960" y="2286000"/>
            <a:ext cx="274320" cy="274320"/>
          </a:xfrm>
          <a:prstGeom prst="rect">
            <a:avLst/>
          </a:prstGeom>
        </p:spPr>
      </p:pic>
      <p:sp>
        <p:nvSpPr>
          <p:cNvPr id="14" name="text-59"/>
          <p:cNvSpPr txBox="1"/>
          <p:nvPr/>
        </p:nvSpPr>
        <p:spPr>
          <a:xfrm>
            <a:off x="4846320" y="2103120"/>
            <a:ext cx="384048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Order</a:t>
            </a:r>
            <a:endParaRPr lang="en-US" sz="1800" dirty="0"/>
          </a:p>
        </p:txBody>
      </p:sp>
      <p:sp>
        <p:nvSpPr>
          <p:cNvPr id="15" name="text-60"/>
          <p:cNvSpPr txBox="1"/>
          <p:nvPr/>
        </p:nvSpPr>
        <p:spPr>
          <a:xfrm>
            <a:off x="4846320" y="2441448"/>
            <a:ext cx="3840480" cy="457200"/>
          </a:xfrm>
          <a:prstGeom prst="rect">
            <a:avLst/>
          </a:prstGeom>
          <a:noFill/>
          <a:ln/>
        </p:spPr>
        <p:txBody>
          <a:bodyPr wrap="square" lIns="0" tIns="0" rIns="0" bIns="0" rtlCol="0" anchor="t"/>
          <a:lstStyle/>
          <a:p>
            <a:pPr indent="0" marL="0">
              <a:buNone/>
            </a:pPr>
            <a:r>
              <a:rPr lang="en-US" sz="1400" dirty="0">
                <a:solidFill>
                  <a:schemeClr val="accent3"/>
                </a:solidFill>
              </a:rPr>
              <a:t>Cart, wishlist and a validated checkout</a:t>
            </a:r>
            <a:endParaRPr lang="en-US" sz="1400" dirty="0"/>
          </a:p>
        </p:txBody>
      </p:sp>
      <p:sp>
        <p:nvSpPr>
          <p:cNvPr id="16" name="iconbg-61"/>
          <p:cNvSpPr/>
          <p:nvPr/>
        </p:nvSpPr>
        <p:spPr>
          <a:xfrm>
            <a:off x="4114800" y="3017520"/>
            <a:ext cx="548640" cy="548640"/>
          </a:xfrm>
          <a:prstGeom prst="ellipse">
            <a:avLst/>
          </a:prstGeom>
          <a:solidFill>
            <a:schemeClr val="accent2"/>
          </a:solidFill>
          <a:ln/>
        </p:spPr>
      </p:sp>
      <p:pic>
        <p:nvPicPr>
          <p:cNvPr id="17" name="icon-62" descr="UserShield icon">    </p:cNvPr>
          <p:cNvPicPr>
            <a:picLocks noChangeAspect="1"/>
          </p:cNvPicPr>
          <p:nvPr/>
        </p:nvPicPr>
        <p:blipFill>
          <a:blip r:embed="rId3"/>
          <a:stretch>
            <a:fillRect/>
          </a:stretch>
        </p:blipFill>
        <p:spPr>
          <a:xfrm>
            <a:off x="4251960" y="3154680"/>
            <a:ext cx="274320" cy="274320"/>
          </a:xfrm>
          <a:prstGeom prst="rect">
            <a:avLst/>
          </a:prstGeom>
        </p:spPr>
      </p:pic>
      <p:sp>
        <p:nvSpPr>
          <p:cNvPr id="18" name="text-63"/>
          <p:cNvSpPr txBox="1"/>
          <p:nvPr/>
        </p:nvSpPr>
        <p:spPr>
          <a:xfrm>
            <a:off x="4846320" y="2971800"/>
            <a:ext cx="384048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Manage</a:t>
            </a:r>
            <a:endParaRPr lang="en-US" sz="1800" dirty="0"/>
          </a:p>
        </p:txBody>
      </p:sp>
      <p:sp>
        <p:nvSpPr>
          <p:cNvPr id="19" name="text-64"/>
          <p:cNvSpPr txBox="1"/>
          <p:nvPr/>
        </p:nvSpPr>
        <p:spPr>
          <a:xfrm>
            <a:off x="4846320" y="3310128"/>
            <a:ext cx="3840480" cy="457200"/>
          </a:xfrm>
          <a:prstGeom prst="rect">
            <a:avLst/>
          </a:prstGeom>
          <a:noFill/>
          <a:ln/>
        </p:spPr>
        <p:txBody>
          <a:bodyPr wrap="square" lIns="0" tIns="0" rIns="0" bIns="0" rtlCol="0" anchor="t"/>
          <a:lstStyle/>
          <a:p>
            <a:pPr indent="0" marL="0">
              <a:buNone/>
            </a:pPr>
            <a:r>
              <a:rPr lang="en-US" sz="1400" dirty="0">
                <a:solidFill>
                  <a:schemeClr val="accent3"/>
                </a:solidFill>
              </a:rPr>
              <a:t>Admin tools for products, orders and customers</a:t>
            </a:r>
            <a:endParaRPr lang="en-US" sz="1400" dirty="0"/>
          </a:p>
        </p:txBody>
      </p:sp>
      <p:sp>
        <p:nvSpPr>
          <p:cNvPr id="20" name="iconbg-65"/>
          <p:cNvSpPr/>
          <p:nvPr/>
        </p:nvSpPr>
        <p:spPr>
          <a:xfrm>
            <a:off x="4114800" y="3886200"/>
            <a:ext cx="548640" cy="548640"/>
          </a:xfrm>
          <a:prstGeom prst="ellipse">
            <a:avLst/>
          </a:prstGeom>
          <a:solidFill>
            <a:schemeClr val="accent2"/>
          </a:solidFill>
          <a:ln/>
        </p:spPr>
      </p:sp>
      <p:pic>
        <p:nvPicPr>
          <p:cNvPr id="21" name="icon-66" descr="Code icon">    </p:cNvPr>
          <p:cNvPicPr>
            <a:picLocks noChangeAspect="1"/>
          </p:cNvPicPr>
          <p:nvPr/>
        </p:nvPicPr>
        <p:blipFill>
          <a:blip r:embed="rId4"/>
          <a:stretch>
            <a:fillRect/>
          </a:stretch>
        </p:blipFill>
        <p:spPr>
          <a:xfrm>
            <a:off x="4251960" y="4023360"/>
            <a:ext cx="274320" cy="274320"/>
          </a:xfrm>
          <a:prstGeom prst="rect">
            <a:avLst/>
          </a:prstGeom>
        </p:spPr>
      </p:pic>
      <p:sp>
        <p:nvSpPr>
          <p:cNvPr id="22" name="text-67"/>
          <p:cNvSpPr txBox="1"/>
          <p:nvPr/>
        </p:nvSpPr>
        <p:spPr>
          <a:xfrm>
            <a:off x="4846320" y="3840480"/>
            <a:ext cx="384048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Learn</a:t>
            </a:r>
            <a:endParaRPr lang="en-US" sz="1800" dirty="0"/>
          </a:p>
        </p:txBody>
      </p:sp>
      <p:sp>
        <p:nvSpPr>
          <p:cNvPr id="23" name="text-68"/>
          <p:cNvSpPr txBox="1"/>
          <p:nvPr/>
        </p:nvSpPr>
        <p:spPr>
          <a:xfrm>
            <a:off x="4846320" y="4178808"/>
            <a:ext cx="3840480" cy="457200"/>
          </a:xfrm>
          <a:prstGeom prst="rect">
            <a:avLst/>
          </a:prstGeom>
          <a:noFill/>
          <a:ln/>
        </p:spPr>
        <p:txBody>
          <a:bodyPr wrap="square" lIns="0" tIns="0" rIns="0" bIns="0" rtlCol="0" anchor="t"/>
          <a:lstStyle/>
          <a:p>
            <a:pPr indent="0" marL="0">
              <a:buNone/>
            </a:pPr>
            <a:r>
              <a:rPr lang="en-US" sz="1400" dirty="0">
                <a:solidFill>
                  <a:schemeClr val="accent3"/>
                </a:solidFill>
              </a:rPr>
              <a:t>React, Redux Toolkit, Context API and routing in practice</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Technology stack</a:t>
            </a:r>
            <a:endParaRPr lang="en-US" sz="3400" dirty="0"/>
          </a:p>
        </p:txBody>
      </p:sp>
      <p:sp>
        <p:nvSpPr>
          <p:cNvPr id="3" name="card-69"/>
          <p:cNvSpPr/>
          <p:nvPr/>
        </p:nvSpPr>
        <p:spPr>
          <a:xfrm>
            <a:off x="457200" y="1143000"/>
            <a:ext cx="2651760" cy="1261872"/>
          </a:xfrm>
          <a:prstGeom prst="roundRect">
            <a:avLst>
              <a:gd name="adj" fmla="val 7246"/>
            </a:avLst>
          </a:prstGeom>
          <a:solidFill>
            <a:schemeClr val="bg2"/>
          </a:solidFill>
          <a:ln/>
        </p:spPr>
      </p:sp>
      <p:sp>
        <p:nvSpPr>
          <p:cNvPr id="4" name="iconbg-70"/>
          <p:cNvSpPr/>
          <p:nvPr/>
        </p:nvSpPr>
        <p:spPr>
          <a:xfrm>
            <a:off x="640080" y="1307592"/>
            <a:ext cx="457200" cy="457200"/>
          </a:xfrm>
          <a:prstGeom prst="ellipse">
            <a:avLst/>
          </a:prstGeom>
          <a:solidFill>
            <a:schemeClr val="tx2"/>
          </a:solidFill>
          <a:ln/>
        </p:spPr>
      </p:sp>
      <p:pic>
        <p:nvPicPr>
          <p:cNvPr id="5" name="icon-71" descr="React icon">    </p:cNvPr>
          <p:cNvPicPr>
            <a:picLocks noChangeAspect="1"/>
          </p:cNvPicPr>
          <p:nvPr/>
        </p:nvPicPr>
        <p:blipFill>
          <a:blip r:embed="rId1"/>
          <a:stretch>
            <a:fillRect/>
          </a:stretch>
        </p:blipFill>
        <p:spPr>
          <a:xfrm>
            <a:off x="754380" y="1421892"/>
            <a:ext cx="228600" cy="228600"/>
          </a:xfrm>
          <a:prstGeom prst="rect">
            <a:avLst/>
          </a:prstGeom>
        </p:spPr>
      </p:pic>
      <p:sp>
        <p:nvSpPr>
          <p:cNvPr id="6" name="text-72"/>
          <p:cNvSpPr txBox="1"/>
          <p:nvPr/>
        </p:nvSpPr>
        <p:spPr>
          <a:xfrm>
            <a:off x="1234440" y="130759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React 19</a:t>
            </a:r>
            <a:endParaRPr lang="en-US" sz="1600" dirty="0"/>
          </a:p>
        </p:txBody>
      </p:sp>
      <p:sp>
        <p:nvSpPr>
          <p:cNvPr id="7" name="text-73"/>
          <p:cNvSpPr txBox="1"/>
          <p:nvPr/>
        </p:nvSpPr>
        <p:spPr>
          <a:xfrm>
            <a:off x="640080" y="1892808"/>
            <a:ext cx="2331720" cy="457200"/>
          </a:xfrm>
          <a:prstGeom prst="rect">
            <a:avLst/>
          </a:prstGeom>
          <a:noFill/>
          <a:ln/>
        </p:spPr>
        <p:txBody>
          <a:bodyPr wrap="square" lIns="0" tIns="0" rIns="0" bIns="0" rtlCol="0" anchor="t"/>
          <a:lstStyle/>
          <a:p>
            <a:pPr indent="0" marL="0">
              <a:buNone/>
            </a:pPr>
            <a:r>
              <a:rPr lang="en-US" sz="1400" dirty="0">
                <a:solidFill>
                  <a:schemeClr val="accent3"/>
                </a:solidFill>
              </a:rPr>
              <a:t>Component-based UI built with hooks</a:t>
            </a:r>
            <a:endParaRPr lang="en-US" sz="1400" dirty="0"/>
          </a:p>
        </p:txBody>
      </p:sp>
      <p:sp>
        <p:nvSpPr>
          <p:cNvPr id="8" name="card-74"/>
          <p:cNvSpPr/>
          <p:nvPr/>
        </p:nvSpPr>
        <p:spPr>
          <a:xfrm>
            <a:off x="3246120" y="1143000"/>
            <a:ext cx="2651760" cy="1261872"/>
          </a:xfrm>
          <a:prstGeom prst="roundRect">
            <a:avLst>
              <a:gd name="adj" fmla="val 7246"/>
            </a:avLst>
          </a:prstGeom>
          <a:solidFill>
            <a:schemeClr val="bg2"/>
          </a:solidFill>
          <a:ln/>
        </p:spPr>
      </p:sp>
      <p:sp>
        <p:nvSpPr>
          <p:cNvPr id="9" name="iconbg-75"/>
          <p:cNvSpPr/>
          <p:nvPr/>
        </p:nvSpPr>
        <p:spPr>
          <a:xfrm>
            <a:off x="3429000" y="1307592"/>
            <a:ext cx="457200" cy="457200"/>
          </a:xfrm>
          <a:prstGeom prst="ellipse">
            <a:avLst/>
          </a:prstGeom>
          <a:solidFill>
            <a:schemeClr val="tx2"/>
          </a:solidFill>
          <a:ln/>
        </p:spPr>
      </p:sp>
      <p:pic>
        <p:nvPicPr>
          <p:cNvPr id="10" name="icon-76" descr="Route icon">    </p:cNvPr>
          <p:cNvPicPr>
            <a:picLocks noChangeAspect="1"/>
          </p:cNvPicPr>
          <p:nvPr/>
        </p:nvPicPr>
        <p:blipFill>
          <a:blip r:embed="rId2"/>
          <a:stretch>
            <a:fillRect/>
          </a:stretch>
        </p:blipFill>
        <p:spPr>
          <a:xfrm>
            <a:off x="3543300" y="1421892"/>
            <a:ext cx="228600" cy="228600"/>
          </a:xfrm>
          <a:prstGeom prst="rect">
            <a:avLst/>
          </a:prstGeom>
        </p:spPr>
      </p:pic>
      <p:sp>
        <p:nvSpPr>
          <p:cNvPr id="11" name="text-77"/>
          <p:cNvSpPr txBox="1"/>
          <p:nvPr/>
        </p:nvSpPr>
        <p:spPr>
          <a:xfrm>
            <a:off x="4023360" y="130759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React Router 7</a:t>
            </a:r>
            <a:endParaRPr lang="en-US" sz="1600" dirty="0"/>
          </a:p>
        </p:txBody>
      </p:sp>
      <p:sp>
        <p:nvSpPr>
          <p:cNvPr id="12" name="text-78"/>
          <p:cNvSpPr txBox="1"/>
          <p:nvPr/>
        </p:nvSpPr>
        <p:spPr>
          <a:xfrm>
            <a:off x="3429000" y="1892808"/>
            <a:ext cx="2331720" cy="457200"/>
          </a:xfrm>
          <a:prstGeom prst="rect">
            <a:avLst/>
          </a:prstGeom>
          <a:noFill/>
          <a:ln/>
        </p:spPr>
        <p:txBody>
          <a:bodyPr wrap="square" lIns="0" tIns="0" rIns="0" bIns="0" rtlCol="0" anchor="t"/>
          <a:lstStyle/>
          <a:p>
            <a:pPr indent="0" marL="0">
              <a:buNone/>
            </a:pPr>
            <a:r>
              <a:rPr lang="en-US" sz="1400" dirty="0">
                <a:solidFill>
                  <a:schemeClr val="accent3"/>
                </a:solidFill>
              </a:rPr>
              <a:t>Public, protected and admin routes</a:t>
            </a:r>
            <a:endParaRPr lang="en-US" sz="1400" dirty="0"/>
          </a:p>
        </p:txBody>
      </p:sp>
      <p:sp>
        <p:nvSpPr>
          <p:cNvPr id="13" name="card-79"/>
          <p:cNvSpPr/>
          <p:nvPr/>
        </p:nvSpPr>
        <p:spPr>
          <a:xfrm>
            <a:off x="6035040" y="1143000"/>
            <a:ext cx="2651760" cy="1261872"/>
          </a:xfrm>
          <a:prstGeom prst="roundRect">
            <a:avLst>
              <a:gd name="adj" fmla="val 7246"/>
            </a:avLst>
          </a:prstGeom>
          <a:solidFill>
            <a:schemeClr val="bg2"/>
          </a:solidFill>
          <a:ln/>
        </p:spPr>
      </p:sp>
      <p:sp>
        <p:nvSpPr>
          <p:cNvPr id="14" name="iconbg-80"/>
          <p:cNvSpPr/>
          <p:nvPr/>
        </p:nvSpPr>
        <p:spPr>
          <a:xfrm>
            <a:off x="6217920" y="1307592"/>
            <a:ext cx="457200" cy="457200"/>
          </a:xfrm>
          <a:prstGeom prst="ellipse">
            <a:avLst/>
          </a:prstGeom>
          <a:solidFill>
            <a:schemeClr val="tx2"/>
          </a:solidFill>
          <a:ln/>
        </p:spPr>
      </p:sp>
      <p:pic>
        <p:nvPicPr>
          <p:cNvPr id="15" name="icon-81" descr="LayerGroup icon">    </p:cNvPr>
          <p:cNvPicPr>
            <a:picLocks noChangeAspect="1"/>
          </p:cNvPicPr>
          <p:nvPr/>
        </p:nvPicPr>
        <p:blipFill>
          <a:blip r:embed="rId3"/>
          <a:stretch>
            <a:fillRect/>
          </a:stretch>
        </p:blipFill>
        <p:spPr>
          <a:xfrm>
            <a:off x="6332220" y="1421892"/>
            <a:ext cx="228600" cy="228600"/>
          </a:xfrm>
          <a:prstGeom prst="rect">
            <a:avLst/>
          </a:prstGeom>
        </p:spPr>
      </p:pic>
      <p:sp>
        <p:nvSpPr>
          <p:cNvPr id="16" name="text-82"/>
          <p:cNvSpPr txBox="1"/>
          <p:nvPr/>
        </p:nvSpPr>
        <p:spPr>
          <a:xfrm>
            <a:off x="6812280" y="130759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Redux Toolkit 2</a:t>
            </a:r>
            <a:endParaRPr lang="en-US" sz="1600" dirty="0"/>
          </a:p>
        </p:txBody>
      </p:sp>
      <p:sp>
        <p:nvSpPr>
          <p:cNvPr id="17" name="text-83"/>
          <p:cNvSpPr txBox="1"/>
          <p:nvPr/>
        </p:nvSpPr>
        <p:spPr>
          <a:xfrm>
            <a:off x="6217920" y="1892808"/>
            <a:ext cx="2331720" cy="457200"/>
          </a:xfrm>
          <a:prstGeom prst="rect">
            <a:avLst/>
          </a:prstGeom>
          <a:noFill/>
          <a:ln/>
        </p:spPr>
        <p:txBody>
          <a:bodyPr wrap="square" lIns="0" tIns="0" rIns="0" bIns="0" rtlCol="0" anchor="t"/>
          <a:lstStyle/>
          <a:p>
            <a:pPr indent="0" marL="0">
              <a:buNone/>
            </a:pPr>
            <a:r>
              <a:rPr lang="en-US" sz="1400" dirty="0">
                <a:solidFill>
                  <a:schemeClr val="accent3"/>
                </a:solidFill>
              </a:rPr>
              <a:t>Slices for products, cart, wishlist, orders</a:t>
            </a:r>
            <a:endParaRPr lang="en-US" sz="1400" dirty="0"/>
          </a:p>
        </p:txBody>
      </p:sp>
      <p:sp>
        <p:nvSpPr>
          <p:cNvPr id="18" name="card-84"/>
          <p:cNvSpPr/>
          <p:nvPr/>
        </p:nvSpPr>
        <p:spPr>
          <a:xfrm>
            <a:off x="457200" y="2514600"/>
            <a:ext cx="2651760" cy="1261872"/>
          </a:xfrm>
          <a:prstGeom prst="roundRect">
            <a:avLst>
              <a:gd name="adj" fmla="val 7246"/>
            </a:avLst>
          </a:prstGeom>
          <a:solidFill>
            <a:schemeClr val="bg2"/>
          </a:solidFill>
          <a:ln/>
        </p:spPr>
      </p:sp>
      <p:sp>
        <p:nvSpPr>
          <p:cNvPr id="19" name="iconbg-85"/>
          <p:cNvSpPr/>
          <p:nvPr/>
        </p:nvSpPr>
        <p:spPr>
          <a:xfrm>
            <a:off x="640080" y="2679192"/>
            <a:ext cx="457200" cy="457200"/>
          </a:xfrm>
          <a:prstGeom prst="ellipse">
            <a:avLst/>
          </a:prstGeom>
          <a:solidFill>
            <a:schemeClr val="tx2"/>
          </a:solidFill>
          <a:ln/>
        </p:spPr>
      </p:sp>
      <p:pic>
        <p:nvPicPr>
          <p:cNvPr id="20" name="icon-86" descr="UserCircle icon">    </p:cNvPr>
          <p:cNvPicPr>
            <a:picLocks noChangeAspect="1"/>
          </p:cNvPicPr>
          <p:nvPr/>
        </p:nvPicPr>
        <p:blipFill>
          <a:blip r:embed="rId4"/>
          <a:stretch>
            <a:fillRect/>
          </a:stretch>
        </p:blipFill>
        <p:spPr>
          <a:xfrm>
            <a:off x="754380" y="2793492"/>
            <a:ext cx="228600" cy="228600"/>
          </a:xfrm>
          <a:prstGeom prst="rect">
            <a:avLst/>
          </a:prstGeom>
        </p:spPr>
      </p:pic>
      <p:sp>
        <p:nvSpPr>
          <p:cNvPr id="21" name="text-87"/>
          <p:cNvSpPr txBox="1"/>
          <p:nvPr/>
        </p:nvSpPr>
        <p:spPr>
          <a:xfrm>
            <a:off x="1234440" y="267919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Context API</a:t>
            </a:r>
            <a:endParaRPr lang="en-US" sz="1600" dirty="0"/>
          </a:p>
        </p:txBody>
      </p:sp>
      <p:sp>
        <p:nvSpPr>
          <p:cNvPr id="22" name="text-88"/>
          <p:cNvSpPr txBox="1"/>
          <p:nvPr/>
        </p:nvSpPr>
        <p:spPr>
          <a:xfrm>
            <a:off x="640080" y="3264408"/>
            <a:ext cx="2331720" cy="457200"/>
          </a:xfrm>
          <a:prstGeom prst="rect">
            <a:avLst/>
          </a:prstGeom>
          <a:noFill/>
          <a:ln/>
        </p:spPr>
        <p:txBody>
          <a:bodyPr wrap="square" lIns="0" tIns="0" rIns="0" bIns="0" rtlCol="0" anchor="t"/>
          <a:lstStyle/>
          <a:p>
            <a:pPr indent="0" marL="0">
              <a:buNone/>
            </a:pPr>
            <a:r>
              <a:rPr lang="en-US" sz="1400" dirty="0">
                <a:solidFill>
                  <a:schemeClr val="accent3"/>
                </a:solidFill>
              </a:rPr>
              <a:t>AuthContext for login and session</a:t>
            </a:r>
            <a:endParaRPr lang="en-US" sz="1400" dirty="0"/>
          </a:p>
        </p:txBody>
      </p:sp>
      <p:sp>
        <p:nvSpPr>
          <p:cNvPr id="23" name="card-89"/>
          <p:cNvSpPr/>
          <p:nvPr/>
        </p:nvSpPr>
        <p:spPr>
          <a:xfrm>
            <a:off x="3246120" y="2514600"/>
            <a:ext cx="2651760" cy="1261872"/>
          </a:xfrm>
          <a:prstGeom prst="roundRect">
            <a:avLst>
              <a:gd name="adj" fmla="val 7246"/>
            </a:avLst>
          </a:prstGeom>
          <a:solidFill>
            <a:schemeClr val="bg2"/>
          </a:solidFill>
          <a:ln/>
        </p:spPr>
      </p:sp>
      <p:sp>
        <p:nvSpPr>
          <p:cNvPr id="24" name="iconbg-90"/>
          <p:cNvSpPr/>
          <p:nvPr/>
        </p:nvSpPr>
        <p:spPr>
          <a:xfrm>
            <a:off x="3429000" y="2679192"/>
            <a:ext cx="457200" cy="457200"/>
          </a:xfrm>
          <a:prstGeom prst="ellipse">
            <a:avLst/>
          </a:prstGeom>
          <a:solidFill>
            <a:schemeClr val="tx2"/>
          </a:solidFill>
          <a:ln/>
        </p:spPr>
      </p:sp>
      <p:pic>
        <p:nvPicPr>
          <p:cNvPr id="25" name="icon-91" descr="Bootstrap icon">    </p:cNvPr>
          <p:cNvPicPr>
            <a:picLocks noChangeAspect="1"/>
          </p:cNvPicPr>
          <p:nvPr/>
        </p:nvPicPr>
        <p:blipFill>
          <a:blip r:embed="rId5"/>
          <a:stretch>
            <a:fillRect/>
          </a:stretch>
        </p:blipFill>
        <p:spPr>
          <a:xfrm>
            <a:off x="3543300" y="2793492"/>
            <a:ext cx="228600" cy="228600"/>
          </a:xfrm>
          <a:prstGeom prst="rect">
            <a:avLst/>
          </a:prstGeom>
        </p:spPr>
      </p:pic>
      <p:sp>
        <p:nvSpPr>
          <p:cNvPr id="26" name="text-92"/>
          <p:cNvSpPr txBox="1"/>
          <p:nvPr/>
        </p:nvSpPr>
        <p:spPr>
          <a:xfrm>
            <a:off x="4023360" y="267919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Bootstrap 5 + CSS</a:t>
            </a:r>
            <a:endParaRPr lang="en-US" sz="1600" dirty="0"/>
          </a:p>
        </p:txBody>
      </p:sp>
      <p:sp>
        <p:nvSpPr>
          <p:cNvPr id="27" name="text-93"/>
          <p:cNvSpPr txBox="1"/>
          <p:nvPr/>
        </p:nvSpPr>
        <p:spPr>
          <a:xfrm>
            <a:off x="3429000" y="3264408"/>
            <a:ext cx="2331720" cy="457200"/>
          </a:xfrm>
          <a:prstGeom prst="rect">
            <a:avLst/>
          </a:prstGeom>
          <a:noFill/>
          <a:ln/>
        </p:spPr>
        <p:txBody>
          <a:bodyPr wrap="square" lIns="0" tIns="0" rIns="0" bIns="0" rtlCol="0" anchor="t"/>
          <a:lstStyle/>
          <a:p>
            <a:pPr indent="0" marL="0">
              <a:buNone/>
            </a:pPr>
            <a:r>
              <a:rPr lang="en-US" sz="1400" dirty="0">
                <a:solidFill>
                  <a:schemeClr val="accent3"/>
                </a:solidFill>
              </a:rPr>
              <a:t>Responsive layout, custom styling</a:t>
            </a:r>
            <a:endParaRPr lang="en-US" sz="1400" dirty="0"/>
          </a:p>
        </p:txBody>
      </p:sp>
      <p:sp>
        <p:nvSpPr>
          <p:cNvPr id="28" name="card-94"/>
          <p:cNvSpPr/>
          <p:nvPr/>
        </p:nvSpPr>
        <p:spPr>
          <a:xfrm>
            <a:off x="6035040" y="2514600"/>
            <a:ext cx="2651760" cy="1261872"/>
          </a:xfrm>
          <a:prstGeom prst="roundRect">
            <a:avLst>
              <a:gd name="adj" fmla="val 7246"/>
            </a:avLst>
          </a:prstGeom>
          <a:solidFill>
            <a:schemeClr val="bg2"/>
          </a:solidFill>
          <a:ln/>
        </p:spPr>
      </p:sp>
      <p:sp>
        <p:nvSpPr>
          <p:cNvPr id="29" name="iconbg-95"/>
          <p:cNvSpPr/>
          <p:nvPr/>
        </p:nvSpPr>
        <p:spPr>
          <a:xfrm>
            <a:off x="6217920" y="2679192"/>
            <a:ext cx="457200" cy="457200"/>
          </a:xfrm>
          <a:prstGeom prst="ellipse">
            <a:avLst/>
          </a:prstGeom>
          <a:solidFill>
            <a:schemeClr val="tx2"/>
          </a:solidFill>
          <a:ln/>
        </p:spPr>
      </p:sp>
      <p:pic>
        <p:nvPicPr>
          <p:cNvPr id="30" name="icon-96" descr="Database icon">    </p:cNvPr>
          <p:cNvPicPr>
            <a:picLocks noChangeAspect="1"/>
          </p:cNvPicPr>
          <p:nvPr/>
        </p:nvPicPr>
        <p:blipFill>
          <a:blip r:embed="rId6"/>
          <a:stretch>
            <a:fillRect/>
          </a:stretch>
        </p:blipFill>
        <p:spPr>
          <a:xfrm>
            <a:off x="6332220" y="2793492"/>
            <a:ext cx="228600" cy="228600"/>
          </a:xfrm>
          <a:prstGeom prst="rect">
            <a:avLst/>
          </a:prstGeom>
        </p:spPr>
      </p:pic>
      <p:sp>
        <p:nvSpPr>
          <p:cNvPr id="31" name="text-97"/>
          <p:cNvSpPr txBox="1"/>
          <p:nvPr/>
        </p:nvSpPr>
        <p:spPr>
          <a:xfrm>
            <a:off x="6812280" y="267919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Browser localStorage</a:t>
            </a:r>
            <a:endParaRPr lang="en-US" sz="1600" dirty="0"/>
          </a:p>
        </p:txBody>
      </p:sp>
      <p:sp>
        <p:nvSpPr>
          <p:cNvPr id="32" name="text-98"/>
          <p:cNvSpPr txBox="1"/>
          <p:nvPr/>
        </p:nvSpPr>
        <p:spPr>
          <a:xfrm>
            <a:off x="6217920" y="3264408"/>
            <a:ext cx="2331720" cy="457200"/>
          </a:xfrm>
          <a:prstGeom prst="rect">
            <a:avLst/>
          </a:prstGeom>
          <a:noFill/>
          <a:ln/>
        </p:spPr>
        <p:txBody>
          <a:bodyPr wrap="square" lIns="0" tIns="0" rIns="0" bIns="0" rtlCol="0" anchor="t"/>
          <a:lstStyle/>
          <a:p>
            <a:pPr indent="0" marL="0">
              <a:buNone/>
            </a:pPr>
            <a:r>
              <a:rPr lang="en-US" sz="1400" dirty="0">
                <a:solidFill>
                  <a:schemeClr val="accent3"/>
                </a:solidFill>
              </a:rPr>
              <a:t>Saves catalogue, orders, carts, users</a:t>
            </a:r>
            <a:endParaRPr lang="en-US" sz="1400" dirty="0"/>
          </a:p>
        </p:txBody>
      </p:sp>
      <p:sp>
        <p:nvSpPr>
          <p:cNvPr id="33" name="card-99"/>
          <p:cNvSpPr/>
          <p:nvPr/>
        </p:nvSpPr>
        <p:spPr>
          <a:xfrm>
            <a:off x="457200" y="3977640"/>
            <a:ext cx="8229600" cy="658368"/>
          </a:xfrm>
          <a:prstGeom prst="roundRect">
            <a:avLst>
              <a:gd name="adj" fmla="val 13889"/>
            </a:avLst>
          </a:prstGeom>
          <a:solidFill>
            <a:schemeClr val="tx2"/>
          </a:solidFill>
          <a:ln/>
        </p:spPr>
      </p:sp>
      <p:sp>
        <p:nvSpPr>
          <p:cNvPr id="34" name="text-100"/>
          <p:cNvSpPr txBox="1"/>
          <p:nvPr/>
        </p:nvSpPr>
        <p:spPr>
          <a:xfrm>
            <a:off x="685800" y="3977640"/>
            <a:ext cx="7772400" cy="658368"/>
          </a:xfrm>
          <a:prstGeom prst="rect">
            <a:avLst/>
          </a:prstGeom>
          <a:noFill/>
          <a:ln/>
        </p:spPr>
        <p:txBody>
          <a:bodyPr wrap="square" lIns="0" tIns="0" rIns="0" bIns="0" rtlCol="0" anchor="ctr"/>
          <a:lstStyle/>
          <a:p>
            <a:pPr indent="0" marL="0">
              <a:buNone/>
            </a:pPr>
            <a:r>
              <a:rPr lang="en-US" sz="1400" dirty="0">
                <a:solidFill>
                  <a:schemeClr val="bg1"/>
                </a:solidFill>
              </a:rPr>
              <a:t>Built with Vite 8 and checked with ESLint. The specification also lists Axios + JSON Server; that layer is the planned next step.</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sp>
        <p:nvSpPr>
          <p:cNvPr id="3" name="card-101"/>
          <p:cNvSpPr/>
          <p:nvPr/>
        </p:nvSpPr>
        <p:spPr>
          <a:xfrm>
            <a:off x="457200" y="1188720"/>
            <a:ext cx="1444752" cy="1234440"/>
          </a:xfrm>
          <a:prstGeom prst="roundRect">
            <a:avLst>
              <a:gd name="adj" fmla="val 7407"/>
            </a:avLst>
          </a:prstGeom>
          <a:solidFill>
            <a:schemeClr val="tx2"/>
          </a:solidFill>
          <a:ln/>
        </p:spPr>
      </p:sp>
      <p:sp>
        <p:nvSpPr>
          <p:cNvPr id="4" name="text-102"/>
          <p:cNvSpPr txBox="1"/>
          <p:nvPr/>
        </p:nvSpPr>
        <p:spPr>
          <a:xfrm>
            <a:off x="548640" y="1298448"/>
            <a:ext cx="1261872" cy="502920"/>
          </a:xfrm>
          <a:prstGeom prst="rect">
            <a:avLst/>
          </a:prstGeom>
          <a:noFill/>
          <a:ln/>
        </p:spPr>
        <p:txBody>
          <a:bodyPr wrap="square" lIns="0" tIns="0" rIns="0" bIns="0" rtlCol="0" anchor="ctr"/>
          <a:lstStyle/>
          <a:p>
            <a:pPr algn="ctr" indent="0" marL="0">
              <a:buNone/>
            </a:pPr>
            <a:r>
              <a:rPr lang="en-US" sz="1400" b="1" dirty="0">
                <a:solidFill>
                  <a:schemeClr val="bg1"/>
                </a:solidFill>
              </a:rPr>
              <a:t>User interface</a:t>
            </a:r>
            <a:endParaRPr lang="en-US" sz="1400" dirty="0"/>
          </a:p>
        </p:txBody>
      </p:sp>
      <p:sp>
        <p:nvSpPr>
          <p:cNvPr id="5" name="text-103"/>
          <p:cNvSpPr txBox="1"/>
          <p:nvPr/>
        </p:nvSpPr>
        <p:spPr>
          <a:xfrm>
            <a:off x="548640" y="1810512"/>
            <a:ext cx="1261872" cy="548640"/>
          </a:xfrm>
          <a:prstGeom prst="rect">
            <a:avLst/>
          </a:prstGeom>
          <a:noFill/>
          <a:ln/>
        </p:spPr>
        <p:txBody>
          <a:bodyPr wrap="square" lIns="0" tIns="0" rIns="0" bIns="0" rtlCol="0" anchor="t"/>
          <a:lstStyle/>
          <a:p>
            <a:pPr algn="ctr" indent="0" marL="0">
              <a:buNone/>
            </a:pPr>
            <a:r>
              <a:rPr lang="en-US" sz="1200" dirty="0">
                <a:solidFill>
                  <a:schemeClr val="bg2"/>
                </a:solidFill>
              </a:rPr>
              <a:t>Pages and admin screens</a:t>
            </a:r>
            <a:endParaRPr lang="en-US" sz="1200" dirty="0"/>
          </a:p>
        </p:txBody>
      </p:sp>
      <p:sp>
        <p:nvSpPr>
          <p:cNvPr id="6" name="arrow-104"/>
          <p:cNvSpPr/>
          <p:nvPr/>
        </p:nvSpPr>
        <p:spPr>
          <a:xfrm>
            <a:off x="1929384" y="1805940"/>
            <a:ext cx="196596" cy="0"/>
          </a:xfrm>
          <a:prstGeom prst="line">
            <a:avLst/>
          </a:prstGeom>
          <a:noFill/>
          <a:ln w="25400">
            <a:solidFill>
              <a:schemeClr val="accent3"/>
            </a:solidFill>
            <a:prstDash val="solid"/>
            <a:tailEnd type="triangle"/>
          </a:ln>
        </p:spPr>
      </p:sp>
      <p:sp>
        <p:nvSpPr>
          <p:cNvPr id="7" name="card-105"/>
          <p:cNvSpPr/>
          <p:nvPr/>
        </p:nvSpPr>
        <p:spPr>
          <a:xfrm>
            <a:off x="2153412" y="1188720"/>
            <a:ext cx="1444752" cy="1234440"/>
          </a:xfrm>
          <a:prstGeom prst="roundRect">
            <a:avLst>
              <a:gd name="adj" fmla="val 7407"/>
            </a:avLst>
          </a:prstGeom>
          <a:solidFill>
            <a:schemeClr val="tx2"/>
          </a:solidFill>
          <a:ln/>
        </p:spPr>
      </p:sp>
      <p:sp>
        <p:nvSpPr>
          <p:cNvPr id="8" name="text-106"/>
          <p:cNvSpPr txBox="1"/>
          <p:nvPr/>
        </p:nvSpPr>
        <p:spPr>
          <a:xfrm>
            <a:off x="2244852" y="1298448"/>
            <a:ext cx="1261872" cy="502920"/>
          </a:xfrm>
          <a:prstGeom prst="rect">
            <a:avLst/>
          </a:prstGeom>
          <a:noFill/>
          <a:ln/>
        </p:spPr>
        <p:txBody>
          <a:bodyPr wrap="square" lIns="0" tIns="0" rIns="0" bIns="0" rtlCol="0" anchor="ctr"/>
          <a:lstStyle/>
          <a:p>
            <a:pPr algn="ctr" indent="0" marL="0">
              <a:buNone/>
            </a:pPr>
            <a:r>
              <a:rPr lang="en-US" sz="1400" b="1" dirty="0">
                <a:solidFill>
                  <a:schemeClr val="bg1"/>
                </a:solidFill>
              </a:rPr>
              <a:t>React components</a:t>
            </a:r>
            <a:endParaRPr lang="en-US" sz="1400" dirty="0"/>
          </a:p>
        </p:txBody>
      </p:sp>
      <p:sp>
        <p:nvSpPr>
          <p:cNvPr id="9" name="text-107"/>
          <p:cNvSpPr txBox="1"/>
          <p:nvPr/>
        </p:nvSpPr>
        <p:spPr>
          <a:xfrm>
            <a:off x="2244852" y="1810512"/>
            <a:ext cx="1261872" cy="548640"/>
          </a:xfrm>
          <a:prstGeom prst="rect">
            <a:avLst/>
          </a:prstGeom>
          <a:noFill/>
          <a:ln/>
        </p:spPr>
        <p:txBody>
          <a:bodyPr wrap="square" lIns="0" tIns="0" rIns="0" bIns="0" rtlCol="0" anchor="t"/>
          <a:lstStyle/>
          <a:p>
            <a:pPr algn="ctr" indent="0" marL="0">
              <a:buNone/>
            </a:pPr>
            <a:r>
              <a:rPr lang="en-US" sz="1200" dirty="0">
                <a:solidFill>
                  <a:schemeClr val="bg2"/>
                </a:solidFill>
              </a:rPr>
              <a:t>Navbar, ProductCard, SearchBar</a:t>
            </a:r>
            <a:endParaRPr lang="en-US" sz="1200" dirty="0"/>
          </a:p>
        </p:txBody>
      </p:sp>
      <p:sp>
        <p:nvSpPr>
          <p:cNvPr id="10" name="arrow-108"/>
          <p:cNvSpPr/>
          <p:nvPr/>
        </p:nvSpPr>
        <p:spPr>
          <a:xfrm>
            <a:off x="3625596" y="1805940"/>
            <a:ext cx="196596" cy="0"/>
          </a:xfrm>
          <a:prstGeom prst="line">
            <a:avLst/>
          </a:prstGeom>
          <a:noFill/>
          <a:ln w="25400">
            <a:solidFill>
              <a:schemeClr val="accent3"/>
            </a:solidFill>
            <a:prstDash val="solid"/>
            <a:tailEnd type="triangle"/>
          </a:ln>
        </p:spPr>
      </p:sp>
      <p:sp>
        <p:nvSpPr>
          <p:cNvPr id="11" name="card-109"/>
          <p:cNvSpPr/>
          <p:nvPr/>
        </p:nvSpPr>
        <p:spPr>
          <a:xfrm>
            <a:off x="3849624" y="1188720"/>
            <a:ext cx="1444752" cy="1234440"/>
          </a:xfrm>
          <a:prstGeom prst="roundRect">
            <a:avLst>
              <a:gd name="adj" fmla="val 7407"/>
            </a:avLst>
          </a:prstGeom>
          <a:solidFill>
            <a:schemeClr val="tx2"/>
          </a:solidFill>
          <a:ln/>
        </p:spPr>
      </p:sp>
      <p:sp>
        <p:nvSpPr>
          <p:cNvPr id="12" name="text-110"/>
          <p:cNvSpPr txBox="1"/>
          <p:nvPr/>
        </p:nvSpPr>
        <p:spPr>
          <a:xfrm>
            <a:off x="3941064" y="1298448"/>
            <a:ext cx="1261872" cy="502920"/>
          </a:xfrm>
          <a:prstGeom prst="rect">
            <a:avLst/>
          </a:prstGeom>
          <a:noFill/>
          <a:ln/>
        </p:spPr>
        <p:txBody>
          <a:bodyPr wrap="square" lIns="0" tIns="0" rIns="0" bIns="0" rtlCol="0" anchor="ctr"/>
          <a:lstStyle/>
          <a:p>
            <a:pPr algn="ctr" indent="0" marL="0">
              <a:buNone/>
            </a:pPr>
            <a:r>
              <a:rPr lang="en-US" sz="1400" b="1" dirty="0">
                <a:solidFill>
                  <a:schemeClr val="bg1"/>
                </a:solidFill>
              </a:rPr>
              <a:t>React Router</a:t>
            </a:r>
            <a:endParaRPr lang="en-US" sz="1400" dirty="0"/>
          </a:p>
        </p:txBody>
      </p:sp>
      <p:sp>
        <p:nvSpPr>
          <p:cNvPr id="13" name="text-111"/>
          <p:cNvSpPr txBox="1"/>
          <p:nvPr/>
        </p:nvSpPr>
        <p:spPr>
          <a:xfrm>
            <a:off x="3941064" y="1810512"/>
            <a:ext cx="1261872" cy="548640"/>
          </a:xfrm>
          <a:prstGeom prst="rect">
            <a:avLst/>
          </a:prstGeom>
          <a:noFill/>
          <a:ln/>
        </p:spPr>
        <p:txBody>
          <a:bodyPr wrap="square" lIns="0" tIns="0" rIns="0" bIns="0" rtlCol="0" anchor="t"/>
          <a:lstStyle/>
          <a:p>
            <a:pPr algn="ctr" indent="0" marL="0">
              <a:buNone/>
            </a:pPr>
            <a:r>
              <a:rPr lang="en-US" sz="1200" dirty="0">
                <a:solidFill>
                  <a:schemeClr val="bg2"/>
                </a:solidFill>
              </a:rPr>
              <a:t>Routes + ProtectedRoute</a:t>
            </a:r>
            <a:endParaRPr lang="en-US" sz="1200" dirty="0"/>
          </a:p>
        </p:txBody>
      </p:sp>
      <p:sp>
        <p:nvSpPr>
          <p:cNvPr id="14" name="arrow-112"/>
          <p:cNvSpPr/>
          <p:nvPr/>
        </p:nvSpPr>
        <p:spPr>
          <a:xfrm>
            <a:off x="5321808" y="1805940"/>
            <a:ext cx="196596" cy="0"/>
          </a:xfrm>
          <a:prstGeom prst="line">
            <a:avLst/>
          </a:prstGeom>
          <a:noFill/>
          <a:ln w="25400">
            <a:solidFill>
              <a:schemeClr val="accent3"/>
            </a:solidFill>
            <a:prstDash val="solid"/>
            <a:tailEnd type="triangle"/>
          </a:ln>
        </p:spPr>
      </p:sp>
      <p:sp>
        <p:nvSpPr>
          <p:cNvPr id="15" name="card-113"/>
          <p:cNvSpPr/>
          <p:nvPr/>
        </p:nvSpPr>
        <p:spPr>
          <a:xfrm>
            <a:off x="5545836" y="1188720"/>
            <a:ext cx="1444752" cy="1234440"/>
          </a:xfrm>
          <a:prstGeom prst="roundRect">
            <a:avLst>
              <a:gd name="adj" fmla="val 7407"/>
            </a:avLst>
          </a:prstGeom>
          <a:solidFill>
            <a:schemeClr val="accent1"/>
          </a:solidFill>
          <a:ln/>
        </p:spPr>
      </p:sp>
      <p:sp>
        <p:nvSpPr>
          <p:cNvPr id="16" name="text-114"/>
          <p:cNvSpPr txBox="1"/>
          <p:nvPr/>
        </p:nvSpPr>
        <p:spPr>
          <a:xfrm>
            <a:off x="5637276" y="1298448"/>
            <a:ext cx="1261872" cy="502920"/>
          </a:xfrm>
          <a:prstGeom prst="rect">
            <a:avLst/>
          </a:prstGeom>
          <a:noFill/>
          <a:ln/>
        </p:spPr>
        <p:txBody>
          <a:bodyPr wrap="square" lIns="0" tIns="0" rIns="0" bIns="0" rtlCol="0" anchor="ctr"/>
          <a:lstStyle/>
          <a:p>
            <a:pPr algn="ctr" indent="0" marL="0">
              <a:buNone/>
            </a:pPr>
            <a:r>
              <a:rPr lang="en-US" sz="1400" b="1" dirty="0">
                <a:solidFill>
                  <a:schemeClr val="tx1"/>
                </a:solidFill>
              </a:rPr>
              <a:t>State layer</a:t>
            </a:r>
            <a:endParaRPr lang="en-US" sz="1400" dirty="0"/>
          </a:p>
        </p:txBody>
      </p:sp>
      <p:sp>
        <p:nvSpPr>
          <p:cNvPr id="17" name="text-115"/>
          <p:cNvSpPr txBox="1"/>
          <p:nvPr/>
        </p:nvSpPr>
        <p:spPr>
          <a:xfrm>
            <a:off x="5637276" y="1810512"/>
            <a:ext cx="1261872" cy="548640"/>
          </a:xfrm>
          <a:prstGeom prst="rect">
            <a:avLst/>
          </a:prstGeom>
          <a:noFill/>
          <a:ln/>
        </p:spPr>
        <p:txBody>
          <a:bodyPr wrap="square" lIns="0" tIns="0" rIns="0" bIns="0" rtlCol="0" anchor="t"/>
          <a:lstStyle/>
          <a:p>
            <a:pPr algn="ctr" indent="0" marL="0">
              <a:buNone/>
            </a:pPr>
            <a:r>
              <a:rPr lang="en-US" sz="1200" dirty="0">
                <a:solidFill>
                  <a:schemeClr val="tx1"/>
                </a:solidFill>
              </a:rPr>
              <a:t>Redux store + AuthContext</a:t>
            </a:r>
            <a:endParaRPr lang="en-US" sz="1200" dirty="0"/>
          </a:p>
        </p:txBody>
      </p:sp>
      <p:sp>
        <p:nvSpPr>
          <p:cNvPr id="18" name="arrow-116"/>
          <p:cNvSpPr/>
          <p:nvPr/>
        </p:nvSpPr>
        <p:spPr>
          <a:xfrm>
            <a:off x="7018020" y="1805940"/>
            <a:ext cx="196596" cy="0"/>
          </a:xfrm>
          <a:prstGeom prst="line">
            <a:avLst/>
          </a:prstGeom>
          <a:noFill/>
          <a:ln w="25400">
            <a:solidFill>
              <a:schemeClr val="accent3"/>
            </a:solidFill>
            <a:prstDash val="solid"/>
            <a:tailEnd type="triangle"/>
          </a:ln>
        </p:spPr>
      </p:sp>
      <p:sp>
        <p:nvSpPr>
          <p:cNvPr id="19" name="card-117"/>
          <p:cNvSpPr/>
          <p:nvPr/>
        </p:nvSpPr>
        <p:spPr>
          <a:xfrm>
            <a:off x="7242048" y="1188720"/>
            <a:ext cx="1444752" cy="1234440"/>
          </a:xfrm>
          <a:prstGeom prst="roundRect">
            <a:avLst>
              <a:gd name="adj" fmla="val 7407"/>
            </a:avLst>
          </a:prstGeom>
          <a:solidFill>
            <a:schemeClr val="tx2"/>
          </a:solidFill>
          <a:ln/>
        </p:spPr>
      </p:sp>
      <p:sp>
        <p:nvSpPr>
          <p:cNvPr id="20" name="text-118"/>
          <p:cNvSpPr txBox="1"/>
          <p:nvPr/>
        </p:nvSpPr>
        <p:spPr>
          <a:xfrm>
            <a:off x="7333488" y="1298448"/>
            <a:ext cx="1261872" cy="502920"/>
          </a:xfrm>
          <a:prstGeom prst="rect">
            <a:avLst/>
          </a:prstGeom>
          <a:noFill/>
          <a:ln/>
        </p:spPr>
        <p:txBody>
          <a:bodyPr wrap="square" lIns="0" tIns="0" rIns="0" bIns="0" rtlCol="0" anchor="ctr"/>
          <a:lstStyle/>
          <a:p>
            <a:pPr algn="ctr" indent="0" marL="0">
              <a:buNone/>
            </a:pPr>
            <a:r>
              <a:rPr lang="en-US" sz="1400" b="1" dirty="0">
                <a:solidFill>
                  <a:schemeClr val="bg1"/>
                </a:solidFill>
              </a:rPr>
              <a:t>Persistence</a:t>
            </a:r>
            <a:endParaRPr lang="en-US" sz="1400" dirty="0"/>
          </a:p>
        </p:txBody>
      </p:sp>
      <p:sp>
        <p:nvSpPr>
          <p:cNvPr id="21" name="text-119"/>
          <p:cNvSpPr txBox="1"/>
          <p:nvPr/>
        </p:nvSpPr>
        <p:spPr>
          <a:xfrm>
            <a:off x="7333488" y="1810512"/>
            <a:ext cx="1261872" cy="548640"/>
          </a:xfrm>
          <a:prstGeom prst="rect">
            <a:avLst/>
          </a:prstGeom>
          <a:noFill/>
          <a:ln/>
        </p:spPr>
        <p:txBody>
          <a:bodyPr wrap="square" lIns="0" tIns="0" rIns="0" bIns="0" rtlCol="0" anchor="t"/>
          <a:lstStyle/>
          <a:p>
            <a:pPr algn="ctr" indent="0" marL="0">
              <a:buNone/>
            </a:pPr>
            <a:r>
              <a:rPr lang="en-US" sz="1200" dirty="0">
                <a:solidFill>
                  <a:schemeClr val="bg2"/>
                </a:solidFill>
              </a:rPr>
              <a:t>localStorage via store.subscribe</a:t>
            </a:r>
            <a:endParaRPr lang="en-US" sz="1200" dirty="0"/>
          </a:p>
        </p:txBody>
      </p:sp>
      <p:sp>
        <p:nvSpPr>
          <p:cNvPr id="22" name="card-120"/>
          <p:cNvSpPr/>
          <p:nvPr/>
        </p:nvSpPr>
        <p:spPr>
          <a:xfrm>
            <a:off x="457200" y="2606040"/>
            <a:ext cx="8229600" cy="731520"/>
          </a:xfrm>
          <a:prstGeom prst="roundRect">
            <a:avLst>
              <a:gd name="adj" fmla="val 12500"/>
            </a:avLst>
          </a:prstGeom>
          <a:solidFill>
            <a:schemeClr val="bg2"/>
          </a:solidFill>
          <a:ln/>
        </p:spPr>
      </p:sp>
      <p:sp>
        <p:nvSpPr>
          <p:cNvPr id="23" name="text-121"/>
          <p:cNvSpPr txBox="1"/>
          <p:nvPr/>
        </p:nvSpPr>
        <p:spPr>
          <a:xfrm>
            <a:off x="685800" y="2606040"/>
            <a:ext cx="7772400" cy="731520"/>
          </a:xfrm>
          <a:prstGeom prst="rect">
            <a:avLst/>
          </a:prstGeom>
          <a:noFill/>
          <a:ln/>
        </p:spPr>
        <p:txBody>
          <a:bodyPr wrap="square" lIns="0" tIns="0" rIns="0" bIns="0" rtlCol="0" anchor="ctr"/>
          <a:lstStyle/>
          <a:p>
            <a:pPr indent="0" marL="0">
              <a:buNone/>
            </a:pPr>
            <a:r>
              <a:rPr lang="en-US" sz="1400" b="1" dirty="0">
                <a:solidFill>
                  <a:schemeClr val="tx1"/>
                </a:solidFill>
              </a:rPr>
              <a:t>On every action:  </a:t>
            </a:r>
            <a:pPr indent="0" marL="0">
              <a:buNone/>
            </a:pPr>
            <a:r>
              <a:rPr lang="en-US" sz="1400" dirty="0">
                <a:solidFill>
                  <a:schemeClr val="tx1"/>
                </a:solidFill>
              </a:rPr>
              <a:t>dispatch  →  reducer updates the store  →  useSelector re-renders the UI  →  store.subscribe saves to localStorage</a:t>
            </a:r>
            <a:endParaRPr lang="en-US" sz="1400" dirty="0"/>
          </a:p>
        </p:txBody>
      </p:sp>
      <p:sp>
        <p:nvSpPr>
          <p:cNvPr id="24" name="card-122"/>
          <p:cNvSpPr/>
          <p:nvPr/>
        </p:nvSpPr>
        <p:spPr>
          <a:xfrm>
            <a:off x="457200" y="3520440"/>
            <a:ext cx="4023360" cy="1097280"/>
          </a:xfrm>
          <a:prstGeom prst="roundRect">
            <a:avLst>
              <a:gd name="adj" fmla="val 8333"/>
            </a:avLst>
          </a:prstGeom>
          <a:solidFill>
            <a:schemeClr val="bg1"/>
          </a:solidFill>
          <a:ln w="15875">
            <a:solidFill>
              <a:srgbClr val="AEB7BF"/>
            </a:solidFill>
            <a:prstDash val="solid"/>
          </a:ln>
        </p:spPr>
      </p:sp>
      <p:sp>
        <p:nvSpPr>
          <p:cNvPr id="25" name="text-123"/>
          <p:cNvSpPr txBox="1"/>
          <p:nvPr/>
        </p:nvSpPr>
        <p:spPr>
          <a:xfrm>
            <a:off x="640080" y="3611880"/>
            <a:ext cx="3657600" cy="256032"/>
          </a:xfrm>
          <a:prstGeom prst="rect">
            <a:avLst/>
          </a:prstGeom>
          <a:noFill/>
          <a:ln/>
        </p:spPr>
        <p:txBody>
          <a:bodyPr wrap="square" lIns="0" tIns="0" rIns="0" bIns="0" rtlCol="0" anchor="t"/>
          <a:lstStyle/>
          <a:p>
            <a:pPr indent="0" marL="0">
              <a:buNone/>
            </a:pPr>
            <a:r>
              <a:rPr lang="en-US" sz="1200" b="1" spc="200" kern="0" dirty="0">
                <a:solidFill>
                  <a:schemeClr val="accent3"/>
                </a:solidFill>
              </a:rPr>
              <a:t>AS SPECIFIED</a:t>
            </a:r>
            <a:endParaRPr lang="en-US" sz="1200" dirty="0"/>
          </a:p>
        </p:txBody>
      </p:sp>
      <p:sp>
        <p:nvSpPr>
          <p:cNvPr id="26" name="text-124"/>
          <p:cNvSpPr txBox="1"/>
          <p:nvPr/>
        </p:nvSpPr>
        <p:spPr>
          <a:xfrm>
            <a:off x="640080" y="3886200"/>
            <a:ext cx="3657600" cy="685800"/>
          </a:xfrm>
          <a:prstGeom prst="rect">
            <a:avLst/>
          </a:prstGeom>
          <a:noFill/>
          <a:ln/>
        </p:spPr>
        <p:txBody>
          <a:bodyPr wrap="square" lIns="0" tIns="0" rIns="0" bIns="0" rtlCol="0" anchor="t"/>
          <a:lstStyle/>
          <a:p>
            <a:pPr indent="0" marL="0">
              <a:buNone/>
            </a:pPr>
            <a:r>
              <a:rPr lang="en-US" sz="1400" dirty="0">
                <a:solidFill>
                  <a:schemeClr val="tx1"/>
                </a:solidFill>
              </a:rPr>
              <a:t>Axios calls to JSON Server (db.json) with REST endpoints such as /users and /products</a:t>
            </a:r>
            <a:endParaRPr lang="en-US" sz="1400" dirty="0"/>
          </a:p>
        </p:txBody>
      </p:sp>
      <p:sp>
        <p:nvSpPr>
          <p:cNvPr id="27" name="card-125"/>
          <p:cNvSpPr/>
          <p:nvPr/>
        </p:nvSpPr>
        <p:spPr>
          <a:xfrm>
            <a:off x="4663440" y="3520440"/>
            <a:ext cx="4023360" cy="1097280"/>
          </a:xfrm>
          <a:prstGeom prst="roundRect">
            <a:avLst>
              <a:gd name="adj" fmla="val 8333"/>
            </a:avLst>
          </a:prstGeom>
          <a:solidFill>
            <a:schemeClr val="bg2"/>
          </a:solidFill>
          <a:ln/>
        </p:spPr>
      </p:sp>
      <p:sp>
        <p:nvSpPr>
          <p:cNvPr id="28" name="text-126"/>
          <p:cNvSpPr txBox="1"/>
          <p:nvPr/>
        </p:nvSpPr>
        <p:spPr>
          <a:xfrm>
            <a:off x="4846320" y="3611880"/>
            <a:ext cx="3657600" cy="256032"/>
          </a:xfrm>
          <a:prstGeom prst="rect">
            <a:avLst/>
          </a:prstGeom>
          <a:noFill/>
          <a:ln/>
        </p:spPr>
        <p:txBody>
          <a:bodyPr wrap="square" lIns="0" tIns="0" rIns="0" bIns="0" rtlCol="0" anchor="t"/>
          <a:lstStyle/>
          <a:p>
            <a:pPr indent="0" marL="0">
              <a:buNone/>
            </a:pPr>
            <a:r>
              <a:rPr lang="en-US" sz="1200" b="1" spc="200" kern="0" dirty="0">
                <a:solidFill>
                  <a:schemeClr val="accent6"/>
                </a:solidFill>
              </a:rPr>
              <a:t>AS BUILT</a:t>
            </a:r>
            <a:endParaRPr lang="en-US" sz="1200" dirty="0"/>
          </a:p>
        </p:txBody>
      </p:sp>
      <p:sp>
        <p:nvSpPr>
          <p:cNvPr id="29" name="text-127"/>
          <p:cNvSpPr txBox="1"/>
          <p:nvPr/>
        </p:nvSpPr>
        <p:spPr>
          <a:xfrm>
            <a:off x="4846320" y="3886200"/>
            <a:ext cx="3657600" cy="685800"/>
          </a:xfrm>
          <a:prstGeom prst="rect">
            <a:avLst/>
          </a:prstGeom>
          <a:noFill/>
          <a:ln/>
        </p:spPr>
        <p:txBody>
          <a:bodyPr wrap="square" lIns="0" tIns="0" rIns="0" bIns="0" rtlCol="0" anchor="t"/>
          <a:lstStyle/>
          <a:p>
            <a:pPr indent="0" marL="0">
              <a:buNone/>
            </a:pPr>
            <a:r>
              <a:rPr lang="en-US" sz="1400" dirty="0">
                <a:solidFill>
                  <a:schemeClr val="tx1"/>
                </a:solidFill>
              </a:rPr>
              <a:t>Redux state mirrored to localStorage keys; per-customer cart and wishlist keys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Code organisation</a:t>
            </a:r>
            <a:endParaRPr lang="en-US" sz="3400" dirty="0"/>
          </a:p>
        </p:txBody>
      </p:sp>
      <p:sp>
        <p:nvSpPr>
          <p:cNvPr id="3" name="card-128"/>
          <p:cNvSpPr/>
          <p:nvPr/>
        </p:nvSpPr>
        <p:spPr>
          <a:xfrm>
            <a:off x="457200" y="1143000"/>
            <a:ext cx="1920240" cy="1645920"/>
          </a:xfrm>
          <a:prstGeom prst="roundRect">
            <a:avLst>
              <a:gd name="adj" fmla="val 5556"/>
            </a:avLst>
          </a:prstGeom>
          <a:solidFill>
            <a:schemeClr val="bg2"/>
          </a:solidFill>
          <a:ln/>
        </p:spPr>
      </p:sp>
      <p:sp>
        <p:nvSpPr>
          <p:cNvPr id="4" name="iconbg-129"/>
          <p:cNvSpPr/>
          <p:nvPr/>
        </p:nvSpPr>
        <p:spPr>
          <a:xfrm>
            <a:off x="621792" y="1289304"/>
            <a:ext cx="457200" cy="457200"/>
          </a:xfrm>
          <a:prstGeom prst="ellipse">
            <a:avLst/>
          </a:prstGeom>
          <a:solidFill>
            <a:schemeClr val="tx2"/>
          </a:solidFill>
          <a:ln/>
        </p:spPr>
      </p:sp>
      <p:pic>
        <p:nvPicPr>
          <p:cNvPr id="5" name="icon-130" descr="Store icon">    </p:cNvPr>
          <p:cNvPicPr>
            <a:picLocks noChangeAspect="1"/>
          </p:cNvPicPr>
          <p:nvPr/>
        </p:nvPicPr>
        <p:blipFill>
          <a:blip r:embed="rId1"/>
          <a:stretch>
            <a:fillRect/>
          </a:stretch>
        </p:blipFill>
        <p:spPr>
          <a:xfrm>
            <a:off x="736092" y="1403604"/>
            <a:ext cx="228600" cy="228600"/>
          </a:xfrm>
          <a:prstGeom prst="rect">
            <a:avLst/>
          </a:prstGeom>
        </p:spPr>
      </p:pic>
      <p:sp>
        <p:nvSpPr>
          <p:cNvPr id="6" name="text-131"/>
          <p:cNvSpPr txBox="1"/>
          <p:nvPr/>
        </p:nvSpPr>
        <p:spPr>
          <a:xfrm>
            <a:off x="621792" y="1856232"/>
            <a:ext cx="1645920" cy="27432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pages/</a:t>
            </a:r>
            <a:endParaRPr lang="en-US" sz="1500" dirty="0"/>
          </a:p>
        </p:txBody>
      </p:sp>
      <p:sp>
        <p:nvSpPr>
          <p:cNvPr id="7" name="text-132"/>
          <p:cNvSpPr txBox="1"/>
          <p:nvPr/>
        </p:nvSpPr>
        <p:spPr>
          <a:xfrm>
            <a:off x="621792" y="2148840"/>
            <a:ext cx="1645920" cy="566928"/>
          </a:xfrm>
          <a:prstGeom prst="rect">
            <a:avLst/>
          </a:prstGeom>
          <a:noFill/>
          <a:ln/>
        </p:spPr>
        <p:txBody>
          <a:bodyPr wrap="square" lIns="0" tIns="0" rIns="0" bIns="0" rtlCol="0" anchor="t"/>
          <a:lstStyle/>
          <a:p>
            <a:pPr indent="0" marL="0">
              <a:buNone/>
            </a:pPr>
            <a:r>
              <a:rPr lang="en-US" sz="1400" dirty="0">
                <a:solidFill>
                  <a:schemeClr val="accent3"/>
                </a:solidFill>
              </a:rPr>
              <a:t>12 customer-facing screens</a:t>
            </a:r>
            <a:endParaRPr lang="en-US" sz="1400" dirty="0"/>
          </a:p>
        </p:txBody>
      </p:sp>
      <p:sp>
        <p:nvSpPr>
          <p:cNvPr id="8" name="card-133"/>
          <p:cNvSpPr/>
          <p:nvPr/>
        </p:nvSpPr>
        <p:spPr>
          <a:xfrm>
            <a:off x="2560320" y="1143000"/>
            <a:ext cx="1920240" cy="1645920"/>
          </a:xfrm>
          <a:prstGeom prst="roundRect">
            <a:avLst>
              <a:gd name="adj" fmla="val 5556"/>
            </a:avLst>
          </a:prstGeom>
          <a:solidFill>
            <a:schemeClr val="bg2"/>
          </a:solidFill>
          <a:ln/>
        </p:spPr>
      </p:sp>
      <p:sp>
        <p:nvSpPr>
          <p:cNvPr id="9" name="iconbg-134"/>
          <p:cNvSpPr/>
          <p:nvPr/>
        </p:nvSpPr>
        <p:spPr>
          <a:xfrm>
            <a:off x="2724912" y="1289304"/>
            <a:ext cx="457200" cy="457200"/>
          </a:xfrm>
          <a:prstGeom prst="ellipse">
            <a:avLst/>
          </a:prstGeom>
          <a:solidFill>
            <a:schemeClr val="accent2"/>
          </a:solidFill>
          <a:ln/>
        </p:spPr>
      </p:sp>
      <p:pic>
        <p:nvPicPr>
          <p:cNvPr id="10" name="icon-135" descr="TachometerAlt icon">    </p:cNvPr>
          <p:cNvPicPr>
            <a:picLocks noChangeAspect="1"/>
          </p:cNvPicPr>
          <p:nvPr/>
        </p:nvPicPr>
        <p:blipFill>
          <a:blip r:embed="rId2"/>
          <a:stretch>
            <a:fillRect/>
          </a:stretch>
        </p:blipFill>
        <p:spPr>
          <a:xfrm>
            <a:off x="2839212" y="1403604"/>
            <a:ext cx="228600" cy="228600"/>
          </a:xfrm>
          <a:prstGeom prst="rect">
            <a:avLst/>
          </a:prstGeom>
        </p:spPr>
      </p:pic>
      <p:sp>
        <p:nvSpPr>
          <p:cNvPr id="11" name="text-136"/>
          <p:cNvSpPr txBox="1"/>
          <p:nvPr/>
        </p:nvSpPr>
        <p:spPr>
          <a:xfrm>
            <a:off x="2724912" y="1856232"/>
            <a:ext cx="1645920" cy="27432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admin/</a:t>
            </a:r>
            <a:endParaRPr lang="en-US" sz="1500" dirty="0"/>
          </a:p>
        </p:txBody>
      </p:sp>
      <p:sp>
        <p:nvSpPr>
          <p:cNvPr id="12" name="text-137"/>
          <p:cNvSpPr txBox="1"/>
          <p:nvPr/>
        </p:nvSpPr>
        <p:spPr>
          <a:xfrm>
            <a:off x="2724912" y="2148840"/>
            <a:ext cx="1645920" cy="566928"/>
          </a:xfrm>
          <a:prstGeom prst="rect">
            <a:avLst/>
          </a:prstGeom>
          <a:noFill/>
          <a:ln/>
        </p:spPr>
        <p:txBody>
          <a:bodyPr wrap="square" lIns="0" tIns="0" rIns="0" bIns="0" rtlCol="0" anchor="t"/>
          <a:lstStyle/>
          <a:p>
            <a:pPr indent="0" marL="0">
              <a:buNone/>
            </a:pPr>
            <a:r>
              <a:rPr lang="en-US" sz="1400" dirty="0">
                <a:solidFill>
                  <a:schemeClr val="accent3"/>
                </a:solidFill>
              </a:rPr>
              <a:t>7 admin screens + dashboard styles</a:t>
            </a:r>
            <a:endParaRPr lang="en-US" sz="1400" dirty="0"/>
          </a:p>
        </p:txBody>
      </p:sp>
      <p:sp>
        <p:nvSpPr>
          <p:cNvPr id="13" name="card-138"/>
          <p:cNvSpPr/>
          <p:nvPr/>
        </p:nvSpPr>
        <p:spPr>
          <a:xfrm>
            <a:off x="4663440" y="1143000"/>
            <a:ext cx="1920240" cy="1645920"/>
          </a:xfrm>
          <a:prstGeom prst="roundRect">
            <a:avLst>
              <a:gd name="adj" fmla="val 5556"/>
            </a:avLst>
          </a:prstGeom>
          <a:solidFill>
            <a:schemeClr val="bg2"/>
          </a:solidFill>
          <a:ln/>
        </p:spPr>
      </p:sp>
      <p:sp>
        <p:nvSpPr>
          <p:cNvPr id="14" name="iconbg-139"/>
          <p:cNvSpPr/>
          <p:nvPr/>
        </p:nvSpPr>
        <p:spPr>
          <a:xfrm>
            <a:off x="4828032" y="1289304"/>
            <a:ext cx="457200" cy="457200"/>
          </a:xfrm>
          <a:prstGeom prst="ellipse">
            <a:avLst/>
          </a:prstGeom>
          <a:solidFill>
            <a:schemeClr val="tx2"/>
          </a:solidFill>
          <a:ln/>
        </p:spPr>
      </p:sp>
      <p:pic>
        <p:nvPicPr>
          <p:cNvPr id="15" name="icon-140" descr="Boxes icon">    </p:cNvPr>
          <p:cNvPicPr>
            <a:picLocks noChangeAspect="1"/>
          </p:cNvPicPr>
          <p:nvPr/>
        </p:nvPicPr>
        <p:blipFill>
          <a:blip r:embed="rId3"/>
          <a:stretch>
            <a:fillRect/>
          </a:stretch>
        </p:blipFill>
        <p:spPr>
          <a:xfrm>
            <a:off x="4942332" y="1403604"/>
            <a:ext cx="228600" cy="228600"/>
          </a:xfrm>
          <a:prstGeom prst="rect">
            <a:avLst/>
          </a:prstGeom>
        </p:spPr>
      </p:pic>
      <p:sp>
        <p:nvSpPr>
          <p:cNvPr id="16" name="text-141"/>
          <p:cNvSpPr txBox="1"/>
          <p:nvPr/>
        </p:nvSpPr>
        <p:spPr>
          <a:xfrm>
            <a:off x="4828032" y="1856232"/>
            <a:ext cx="1645920" cy="27432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components/</a:t>
            </a:r>
            <a:endParaRPr lang="en-US" sz="1500" dirty="0"/>
          </a:p>
        </p:txBody>
      </p:sp>
      <p:sp>
        <p:nvSpPr>
          <p:cNvPr id="17" name="text-142"/>
          <p:cNvSpPr txBox="1"/>
          <p:nvPr/>
        </p:nvSpPr>
        <p:spPr>
          <a:xfrm>
            <a:off x="4828032" y="2148840"/>
            <a:ext cx="1645920" cy="566928"/>
          </a:xfrm>
          <a:prstGeom prst="rect">
            <a:avLst/>
          </a:prstGeom>
          <a:noFill/>
          <a:ln/>
        </p:spPr>
        <p:txBody>
          <a:bodyPr wrap="square" lIns="0" tIns="0" rIns="0" bIns="0" rtlCol="0" anchor="t"/>
          <a:lstStyle/>
          <a:p>
            <a:pPr indent="0" marL="0">
              <a:buNone/>
            </a:pPr>
            <a:r>
              <a:rPr lang="en-US" sz="1400" dirty="0">
                <a:solidFill>
                  <a:schemeClr val="accent3"/>
                </a:solidFill>
              </a:rPr>
              <a:t>6 reusable UI pieces</a:t>
            </a:r>
            <a:endParaRPr lang="en-US" sz="1400" dirty="0"/>
          </a:p>
        </p:txBody>
      </p:sp>
      <p:sp>
        <p:nvSpPr>
          <p:cNvPr id="18" name="card-143"/>
          <p:cNvSpPr/>
          <p:nvPr/>
        </p:nvSpPr>
        <p:spPr>
          <a:xfrm>
            <a:off x="6766560" y="1143000"/>
            <a:ext cx="1920240" cy="1645920"/>
          </a:xfrm>
          <a:prstGeom prst="roundRect">
            <a:avLst>
              <a:gd name="adj" fmla="val 5556"/>
            </a:avLst>
          </a:prstGeom>
          <a:solidFill>
            <a:schemeClr val="bg2"/>
          </a:solidFill>
          <a:ln/>
        </p:spPr>
      </p:sp>
      <p:sp>
        <p:nvSpPr>
          <p:cNvPr id="19" name="iconbg-144"/>
          <p:cNvSpPr/>
          <p:nvPr/>
        </p:nvSpPr>
        <p:spPr>
          <a:xfrm>
            <a:off x="6931152" y="1289304"/>
            <a:ext cx="457200" cy="457200"/>
          </a:xfrm>
          <a:prstGeom prst="ellipse">
            <a:avLst/>
          </a:prstGeom>
          <a:solidFill>
            <a:schemeClr val="accent2"/>
          </a:solidFill>
          <a:ln/>
        </p:spPr>
      </p:sp>
      <p:pic>
        <p:nvPicPr>
          <p:cNvPr id="20" name="icon-145" descr="LayerGroup icon">    </p:cNvPr>
          <p:cNvPicPr>
            <a:picLocks noChangeAspect="1"/>
          </p:cNvPicPr>
          <p:nvPr/>
        </p:nvPicPr>
        <p:blipFill>
          <a:blip r:embed="rId4"/>
          <a:stretch>
            <a:fillRect/>
          </a:stretch>
        </p:blipFill>
        <p:spPr>
          <a:xfrm>
            <a:off x="7045452" y="1403604"/>
            <a:ext cx="228600" cy="228600"/>
          </a:xfrm>
          <a:prstGeom prst="rect">
            <a:avLst/>
          </a:prstGeom>
        </p:spPr>
      </p:pic>
      <p:sp>
        <p:nvSpPr>
          <p:cNvPr id="21" name="text-146"/>
          <p:cNvSpPr txBox="1"/>
          <p:nvPr/>
        </p:nvSpPr>
        <p:spPr>
          <a:xfrm>
            <a:off x="6931152" y="1856232"/>
            <a:ext cx="1645920" cy="27432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redux/</a:t>
            </a:r>
            <a:endParaRPr lang="en-US" sz="1500" dirty="0"/>
          </a:p>
        </p:txBody>
      </p:sp>
      <p:sp>
        <p:nvSpPr>
          <p:cNvPr id="22" name="text-147"/>
          <p:cNvSpPr txBox="1"/>
          <p:nvPr/>
        </p:nvSpPr>
        <p:spPr>
          <a:xfrm>
            <a:off x="6931152" y="2148840"/>
            <a:ext cx="1645920" cy="566928"/>
          </a:xfrm>
          <a:prstGeom prst="rect">
            <a:avLst/>
          </a:prstGeom>
          <a:noFill/>
          <a:ln/>
        </p:spPr>
        <p:txBody>
          <a:bodyPr wrap="square" lIns="0" tIns="0" rIns="0" bIns="0" rtlCol="0" anchor="t"/>
          <a:lstStyle/>
          <a:p>
            <a:pPr indent="0" marL="0">
              <a:buNone/>
            </a:pPr>
            <a:r>
              <a:rPr lang="en-US" sz="1400" dirty="0">
                <a:solidFill>
                  <a:schemeClr val="accent3"/>
                </a:solidFill>
              </a:rPr>
              <a:t>Store plus 4 slices</a:t>
            </a:r>
            <a:endParaRPr lang="en-US" sz="1400" dirty="0"/>
          </a:p>
        </p:txBody>
      </p:sp>
      <p:sp>
        <p:nvSpPr>
          <p:cNvPr id="23" name="card-148"/>
          <p:cNvSpPr/>
          <p:nvPr/>
        </p:nvSpPr>
        <p:spPr>
          <a:xfrm>
            <a:off x="457200" y="2926080"/>
            <a:ext cx="1920240" cy="1645920"/>
          </a:xfrm>
          <a:prstGeom prst="roundRect">
            <a:avLst>
              <a:gd name="adj" fmla="val 5556"/>
            </a:avLst>
          </a:prstGeom>
          <a:solidFill>
            <a:schemeClr val="bg2"/>
          </a:solidFill>
          <a:ln/>
        </p:spPr>
      </p:sp>
      <p:sp>
        <p:nvSpPr>
          <p:cNvPr id="24" name="iconbg-149"/>
          <p:cNvSpPr/>
          <p:nvPr/>
        </p:nvSpPr>
        <p:spPr>
          <a:xfrm>
            <a:off x="621792" y="3072384"/>
            <a:ext cx="457200" cy="457200"/>
          </a:xfrm>
          <a:prstGeom prst="ellipse">
            <a:avLst/>
          </a:prstGeom>
          <a:solidFill>
            <a:schemeClr val="tx2"/>
          </a:solidFill>
          <a:ln/>
        </p:spPr>
      </p:sp>
      <p:pic>
        <p:nvPicPr>
          <p:cNvPr id="25" name="icon-150" descr="UserCircle icon">    </p:cNvPr>
          <p:cNvPicPr>
            <a:picLocks noChangeAspect="1"/>
          </p:cNvPicPr>
          <p:nvPr/>
        </p:nvPicPr>
        <p:blipFill>
          <a:blip r:embed="rId5"/>
          <a:stretch>
            <a:fillRect/>
          </a:stretch>
        </p:blipFill>
        <p:spPr>
          <a:xfrm>
            <a:off x="736092" y="3186684"/>
            <a:ext cx="228600" cy="228600"/>
          </a:xfrm>
          <a:prstGeom prst="rect">
            <a:avLst/>
          </a:prstGeom>
        </p:spPr>
      </p:pic>
      <p:sp>
        <p:nvSpPr>
          <p:cNvPr id="26" name="text-151"/>
          <p:cNvSpPr txBox="1"/>
          <p:nvPr/>
        </p:nvSpPr>
        <p:spPr>
          <a:xfrm>
            <a:off x="621792" y="3639312"/>
            <a:ext cx="1645920" cy="27432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context/</a:t>
            </a:r>
            <a:endParaRPr lang="en-US" sz="1500" dirty="0"/>
          </a:p>
        </p:txBody>
      </p:sp>
      <p:sp>
        <p:nvSpPr>
          <p:cNvPr id="27" name="text-152"/>
          <p:cNvSpPr txBox="1"/>
          <p:nvPr/>
        </p:nvSpPr>
        <p:spPr>
          <a:xfrm>
            <a:off x="621792" y="3931920"/>
            <a:ext cx="1645920" cy="566928"/>
          </a:xfrm>
          <a:prstGeom prst="rect">
            <a:avLst/>
          </a:prstGeom>
          <a:noFill/>
          <a:ln/>
        </p:spPr>
        <p:txBody>
          <a:bodyPr wrap="square" lIns="0" tIns="0" rIns="0" bIns="0" rtlCol="0" anchor="t"/>
          <a:lstStyle/>
          <a:p>
            <a:pPr indent="0" marL="0">
              <a:buNone/>
            </a:pPr>
            <a:r>
              <a:rPr lang="en-US" sz="1400" dirty="0">
                <a:solidFill>
                  <a:schemeClr val="accent3"/>
                </a:solidFill>
              </a:rPr>
              <a:t>AuthContext: login and session</a:t>
            </a:r>
            <a:endParaRPr lang="en-US" sz="1400" dirty="0"/>
          </a:p>
        </p:txBody>
      </p:sp>
      <p:sp>
        <p:nvSpPr>
          <p:cNvPr id="28" name="card-153"/>
          <p:cNvSpPr/>
          <p:nvPr/>
        </p:nvSpPr>
        <p:spPr>
          <a:xfrm>
            <a:off x="2560320" y="2926080"/>
            <a:ext cx="1920240" cy="1645920"/>
          </a:xfrm>
          <a:prstGeom prst="roundRect">
            <a:avLst>
              <a:gd name="adj" fmla="val 5556"/>
            </a:avLst>
          </a:prstGeom>
          <a:solidFill>
            <a:schemeClr val="bg2"/>
          </a:solidFill>
          <a:ln/>
        </p:spPr>
      </p:sp>
      <p:sp>
        <p:nvSpPr>
          <p:cNvPr id="29" name="iconbg-154"/>
          <p:cNvSpPr/>
          <p:nvPr/>
        </p:nvSpPr>
        <p:spPr>
          <a:xfrm>
            <a:off x="2724912" y="3072384"/>
            <a:ext cx="457200" cy="457200"/>
          </a:xfrm>
          <a:prstGeom prst="ellipse">
            <a:avLst/>
          </a:prstGeom>
          <a:solidFill>
            <a:schemeClr val="accent2"/>
          </a:solidFill>
          <a:ln/>
        </p:spPr>
      </p:sp>
      <p:pic>
        <p:nvPicPr>
          <p:cNvPr id="30" name="icon-155" descr="Route icon">    </p:cNvPr>
          <p:cNvPicPr>
            <a:picLocks noChangeAspect="1"/>
          </p:cNvPicPr>
          <p:nvPr/>
        </p:nvPicPr>
        <p:blipFill>
          <a:blip r:embed="rId6"/>
          <a:stretch>
            <a:fillRect/>
          </a:stretch>
        </p:blipFill>
        <p:spPr>
          <a:xfrm>
            <a:off x="2839212" y="3186684"/>
            <a:ext cx="228600" cy="228600"/>
          </a:xfrm>
          <a:prstGeom prst="rect">
            <a:avLst/>
          </a:prstGeom>
        </p:spPr>
      </p:pic>
      <p:sp>
        <p:nvSpPr>
          <p:cNvPr id="31" name="text-156"/>
          <p:cNvSpPr txBox="1"/>
          <p:nvPr/>
        </p:nvSpPr>
        <p:spPr>
          <a:xfrm>
            <a:off x="2724912" y="3639312"/>
            <a:ext cx="1645920" cy="27432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routes/</a:t>
            </a:r>
            <a:endParaRPr lang="en-US" sz="1500" dirty="0"/>
          </a:p>
        </p:txBody>
      </p:sp>
      <p:sp>
        <p:nvSpPr>
          <p:cNvPr id="32" name="text-157"/>
          <p:cNvSpPr txBox="1"/>
          <p:nvPr/>
        </p:nvSpPr>
        <p:spPr>
          <a:xfrm>
            <a:off x="2724912" y="3931920"/>
            <a:ext cx="1645920" cy="566928"/>
          </a:xfrm>
          <a:prstGeom prst="rect">
            <a:avLst/>
          </a:prstGeom>
          <a:noFill/>
          <a:ln/>
        </p:spPr>
        <p:txBody>
          <a:bodyPr wrap="square" lIns="0" tIns="0" rIns="0" bIns="0" rtlCol="0" anchor="t"/>
          <a:lstStyle/>
          <a:p>
            <a:pPr indent="0" marL="0">
              <a:buNone/>
            </a:pPr>
            <a:r>
              <a:rPr lang="en-US" sz="1400" dirty="0">
                <a:solidFill>
                  <a:schemeClr val="accent3"/>
                </a:solidFill>
              </a:rPr>
              <a:t>AppRoutes + ProtectedRoute</a:t>
            </a:r>
            <a:endParaRPr lang="en-US" sz="1400" dirty="0"/>
          </a:p>
        </p:txBody>
      </p:sp>
      <p:sp>
        <p:nvSpPr>
          <p:cNvPr id="33" name="card-158"/>
          <p:cNvSpPr/>
          <p:nvPr/>
        </p:nvSpPr>
        <p:spPr>
          <a:xfrm>
            <a:off x="4663440" y="2926080"/>
            <a:ext cx="1920240" cy="1645920"/>
          </a:xfrm>
          <a:prstGeom prst="roundRect">
            <a:avLst>
              <a:gd name="adj" fmla="val 5556"/>
            </a:avLst>
          </a:prstGeom>
          <a:solidFill>
            <a:schemeClr val="bg2"/>
          </a:solidFill>
          <a:ln/>
        </p:spPr>
      </p:sp>
      <p:sp>
        <p:nvSpPr>
          <p:cNvPr id="34" name="iconbg-159"/>
          <p:cNvSpPr/>
          <p:nvPr/>
        </p:nvSpPr>
        <p:spPr>
          <a:xfrm>
            <a:off x="4828032" y="3072384"/>
            <a:ext cx="457200" cy="457200"/>
          </a:xfrm>
          <a:prstGeom prst="ellipse">
            <a:avLst/>
          </a:prstGeom>
          <a:solidFill>
            <a:schemeClr val="tx2"/>
          </a:solidFill>
          <a:ln/>
        </p:spPr>
      </p:sp>
      <p:pic>
        <p:nvPicPr>
          <p:cNvPr id="35" name="icon-160" descr="Database icon">    </p:cNvPr>
          <p:cNvPicPr>
            <a:picLocks noChangeAspect="1"/>
          </p:cNvPicPr>
          <p:nvPr/>
        </p:nvPicPr>
        <p:blipFill>
          <a:blip r:embed="rId7"/>
          <a:stretch>
            <a:fillRect/>
          </a:stretch>
        </p:blipFill>
        <p:spPr>
          <a:xfrm>
            <a:off x="4942332" y="3186684"/>
            <a:ext cx="228600" cy="228600"/>
          </a:xfrm>
          <a:prstGeom prst="rect">
            <a:avLst/>
          </a:prstGeom>
        </p:spPr>
      </p:pic>
      <p:sp>
        <p:nvSpPr>
          <p:cNvPr id="36" name="text-161"/>
          <p:cNvSpPr txBox="1"/>
          <p:nvPr/>
        </p:nvSpPr>
        <p:spPr>
          <a:xfrm>
            <a:off x="4828032" y="3639312"/>
            <a:ext cx="1645920" cy="27432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services/</a:t>
            </a:r>
            <a:endParaRPr lang="en-US" sz="1500" dirty="0"/>
          </a:p>
        </p:txBody>
      </p:sp>
      <p:sp>
        <p:nvSpPr>
          <p:cNvPr id="37" name="text-162"/>
          <p:cNvSpPr txBox="1"/>
          <p:nvPr/>
        </p:nvSpPr>
        <p:spPr>
          <a:xfrm>
            <a:off x="4828032" y="3931920"/>
            <a:ext cx="1645920" cy="566928"/>
          </a:xfrm>
          <a:prstGeom prst="rect">
            <a:avLst/>
          </a:prstGeom>
          <a:noFill/>
          <a:ln/>
        </p:spPr>
        <p:txBody>
          <a:bodyPr wrap="square" lIns="0" tIns="0" rIns="0" bIns="0" rtlCol="0" anchor="t"/>
          <a:lstStyle/>
          <a:p>
            <a:pPr indent="0" marL="0">
              <a:buNone/>
            </a:pPr>
            <a:r>
              <a:rPr lang="en-US" sz="1400" dirty="0">
                <a:solidFill>
                  <a:schemeClr val="accent3"/>
                </a:solidFill>
              </a:rPr>
              <a:t>api.js reserved for Axios</a:t>
            </a:r>
            <a:endParaRPr lang="en-US" sz="1400" dirty="0"/>
          </a:p>
        </p:txBody>
      </p:sp>
      <p:sp>
        <p:nvSpPr>
          <p:cNvPr id="38" name="card-163"/>
          <p:cNvSpPr/>
          <p:nvPr/>
        </p:nvSpPr>
        <p:spPr>
          <a:xfrm>
            <a:off x="6766560" y="2926080"/>
            <a:ext cx="1920240" cy="1645920"/>
          </a:xfrm>
          <a:prstGeom prst="roundRect">
            <a:avLst>
              <a:gd name="adj" fmla="val 5556"/>
            </a:avLst>
          </a:prstGeom>
          <a:solidFill>
            <a:schemeClr val="bg2"/>
          </a:solidFill>
          <a:ln/>
        </p:spPr>
      </p:sp>
      <p:sp>
        <p:nvSpPr>
          <p:cNvPr id="39" name="iconbg-164"/>
          <p:cNvSpPr/>
          <p:nvPr/>
        </p:nvSpPr>
        <p:spPr>
          <a:xfrm>
            <a:off x="6931152" y="3072384"/>
            <a:ext cx="457200" cy="457200"/>
          </a:xfrm>
          <a:prstGeom prst="ellipse">
            <a:avLst/>
          </a:prstGeom>
          <a:solidFill>
            <a:schemeClr val="accent2"/>
          </a:solidFill>
          <a:ln/>
        </p:spPr>
      </p:sp>
      <p:pic>
        <p:nvPicPr>
          <p:cNvPr id="40" name="icon-165" descr="Rocket icon">    </p:cNvPr>
          <p:cNvPicPr>
            <a:picLocks noChangeAspect="1"/>
          </p:cNvPicPr>
          <p:nvPr/>
        </p:nvPicPr>
        <p:blipFill>
          <a:blip r:embed="rId8"/>
          <a:stretch>
            <a:fillRect/>
          </a:stretch>
        </p:blipFill>
        <p:spPr>
          <a:xfrm>
            <a:off x="7045452" y="3186684"/>
            <a:ext cx="228600" cy="228600"/>
          </a:xfrm>
          <a:prstGeom prst="rect">
            <a:avLst/>
          </a:prstGeom>
        </p:spPr>
      </p:pic>
      <p:sp>
        <p:nvSpPr>
          <p:cNvPr id="41" name="text-166"/>
          <p:cNvSpPr txBox="1"/>
          <p:nvPr/>
        </p:nvSpPr>
        <p:spPr>
          <a:xfrm>
            <a:off x="6931152" y="3639312"/>
            <a:ext cx="1645920" cy="274320"/>
          </a:xfrm>
          <a:prstGeom prst="rect">
            <a:avLst/>
          </a:prstGeom>
          <a:noFill/>
          <a:ln/>
        </p:spPr>
        <p:txBody>
          <a:bodyPr wrap="square" lIns="0" tIns="0" rIns="0" bIns="0" rtlCol="0" anchor="t"/>
          <a:lstStyle/>
          <a:p>
            <a:pPr indent="0" marL="0">
              <a:buNone/>
            </a:pPr>
            <a:r>
              <a:rPr lang="en-US" sz="1500" b="1" dirty="0">
                <a:solidFill>
                  <a:schemeClr val="tx2"/>
                </a:solidFill>
                <a:latin typeface="Courier New" pitchFamily="34" charset="0"/>
                <a:ea typeface="Courier New" pitchFamily="34" charset="-122"/>
                <a:cs typeface="Courier New" pitchFamily="34" charset="-120"/>
              </a:rPr>
              <a:t>main.jsx</a:t>
            </a:r>
            <a:endParaRPr lang="en-US" sz="1500" dirty="0"/>
          </a:p>
        </p:txBody>
      </p:sp>
      <p:sp>
        <p:nvSpPr>
          <p:cNvPr id="42" name="text-167"/>
          <p:cNvSpPr txBox="1"/>
          <p:nvPr/>
        </p:nvSpPr>
        <p:spPr>
          <a:xfrm>
            <a:off x="6931152" y="3931920"/>
            <a:ext cx="1645920" cy="566928"/>
          </a:xfrm>
          <a:prstGeom prst="rect">
            <a:avLst/>
          </a:prstGeom>
          <a:noFill/>
          <a:ln/>
        </p:spPr>
        <p:txBody>
          <a:bodyPr wrap="square" lIns="0" tIns="0" rIns="0" bIns="0" rtlCol="0" anchor="t"/>
          <a:lstStyle/>
          <a:p>
            <a:pPr indent="0" marL="0">
              <a:buNone/>
            </a:pPr>
            <a:r>
              <a:rPr lang="en-US" sz="1400" dirty="0">
                <a:solidFill>
                  <a:schemeClr val="accent3"/>
                </a:solidFill>
              </a:rPr>
              <a:t>Mounts store, auth and routes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Routing and access control</a:t>
            </a:r>
            <a:endParaRPr lang="en-US" sz="3400" dirty="0"/>
          </a:p>
        </p:txBody>
      </p:sp>
      <p:sp>
        <p:nvSpPr>
          <p:cNvPr id="3" name="card-168"/>
          <p:cNvSpPr/>
          <p:nvPr/>
        </p:nvSpPr>
        <p:spPr>
          <a:xfrm>
            <a:off x="457200" y="1143000"/>
            <a:ext cx="2651760" cy="2788920"/>
          </a:xfrm>
          <a:prstGeom prst="roundRect">
            <a:avLst>
              <a:gd name="adj" fmla="val 3448"/>
            </a:avLst>
          </a:prstGeom>
          <a:solidFill>
            <a:schemeClr val="bg2"/>
          </a:solidFill>
          <a:ln/>
        </p:spPr>
      </p:sp>
      <p:sp>
        <p:nvSpPr>
          <p:cNvPr id="4" name="iconbg-169"/>
          <p:cNvSpPr/>
          <p:nvPr/>
        </p:nvSpPr>
        <p:spPr>
          <a:xfrm>
            <a:off x="640080" y="1280160"/>
            <a:ext cx="457200" cy="457200"/>
          </a:xfrm>
          <a:prstGeom prst="ellipse">
            <a:avLst/>
          </a:prstGeom>
          <a:solidFill>
            <a:schemeClr val="accent2"/>
          </a:solidFill>
          <a:ln/>
        </p:spPr>
      </p:sp>
      <p:pic>
        <p:nvPicPr>
          <p:cNvPr id="5" name="icon-170" descr="Globe icon">    </p:cNvPr>
          <p:cNvPicPr>
            <a:picLocks noChangeAspect="1"/>
          </p:cNvPicPr>
          <p:nvPr/>
        </p:nvPicPr>
        <p:blipFill>
          <a:blip r:embed="rId1"/>
          <a:stretch>
            <a:fillRect/>
          </a:stretch>
        </p:blipFill>
        <p:spPr>
          <a:xfrm>
            <a:off x="754380" y="1394460"/>
            <a:ext cx="228600" cy="228600"/>
          </a:xfrm>
          <a:prstGeom prst="rect">
            <a:avLst/>
          </a:prstGeom>
        </p:spPr>
      </p:pic>
      <p:sp>
        <p:nvSpPr>
          <p:cNvPr id="6" name="text-171"/>
          <p:cNvSpPr txBox="1"/>
          <p:nvPr/>
        </p:nvSpPr>
        <p:spPr>
          <a:xfrm>
            <a:off x="1234440" y="1261872"/>
            <a:ext cx="173736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Public</a:t>
            </a:r>
            <a:endParaRPr lang="en-US" sz="1800" dirty="0"/>
          </a:p>
        </p:txBody>
      </p:sp>
      <p:sp>
        <p:nvSpPr>
          <p:cNvPr id="7" name="text-172"/>
          <p:cNvSpPr txBox="1"/>
          <p:nvPr/>
        </p:nvSpPr>
        <p:spPr>
          <a:xfrm>
            <a:off x="1234440" y="1554480"/>
            <a:ext cx="1783080" cy="228600"/>
          </a:xfrm>
          <a:prstGeom prst="rect">
            <a:avLst/>
          </a:prstGeom>
          <a:noFill/>
          <a:ln/>
        </p:spPr>
        <p:txBody>
          <a:bodyPr wrap="square" lIns="0" tIns="0" rIns="0" bIns="0" rtlCol="0" anchor="t"/>
          <a:lstStyle/>
          <a:p>
            <a:pPr indent="0" marL="0">
              <a:buNone/>
            </a:pPr>
            <a:r>
              <a:rPr lang="en-US" sz="1200" dirty="0">
                <a:solidFill>
                  <a:schemeClr val="accent3"/>
                </a:solidFill>
              </a:rPr>
              <a:t>7 routes · anyone</a:t>
            </a:r>
            <a:endParaRPr lang="en-US" sz="1200" dirty="0"/>
          </a:p>
        </p:txBody>
      </p:sp>
      <p:sp>
        <p:nvSpPr>
          <p:cNvPr id="8" name="text-173"/>
          <p:cNvSpPr txBox="1"/>
          <p:nvPr/>
        </p:nvSpPr>
        <p:spPr>
          <a:xfrm>
            <a:off x="640080" y="2011680"/>
            <a:ext cx="2377440" cy="1828800"/>
          </a:xfrm>
          <a:prstGeom prst="rect">
            <a:avLst/>
          </a:prstGeom>
          <a:noFill/>
          <a:ln/>
        </p:spPr>
        <p:txBody>
          <a:bodyPr wrap="square" lIns="0" tIns="0" rIns="0" bIns="0" rtlCol="0" anchor="t"/>
          <a:lstStyle/>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/products</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/product/:id</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/login</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/register</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/about</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/contact</a:t>
            </a:r>
            <a:endParaRPr lang="en-US" sz="1300" dirty="0"/>
          </a:p>
        </p:txBody>
      </p:sp>
      <p:sp>
        <p:nvSpPr>
          <p:cNvPr id="9" name="card-174"/>
          <p:cNvSpPr/>
          <p:nvPr/>
        </p:nvSpPr>
        <p:spPr>
          <a:xfrm>
            <a:off x="3246120" y="1143000"/>
            <a:ext cx="2651760" cy="2788920"/>
          </a:xfrm>
          <a:prstGeom prst="roundRect">
            <a:avLst>
              <a:gd name="adj" fmla="val 3448"/>
            </a:avLst>
          </a:prstGeom>
          <a:solidFill>
            <a:schemeClr val="bg2"/>
          </a:solidFill>
          <a:ln/>
        </p:spPr>
      </p:sp>
      <p:sp>
        <p:nvSpPr>
          <p:cNvPr id="10" name="iconbg-175"/>
          <p:cNvSpPr/>
          <p:nvPr/>
        </p:nvSpPr>
        <p:spPr>
          <a:xfrm>
            <a:off x="3429000" y="1280160"/>
            <a:ext cx="457200" cy="457200"/>
          </a:xfrm>
          <a:prstGeom prst="ellipse">
            <a:avLst/>
          </a:prstGeom>
          <a:solidFill>
            <a:schemeClr val="accent3"/>
          </a:solidFill>
          <a:ln/>
        </p:spPr>
      </p:sp>
      <p:pic>
        <p:nvPicPr>
          <p:cNvPr id="11" name="icon-176" descr="UserCircle icon">    </p:cNvPr>
          <p:cNvPicPr>
            <a:picLocks noChangeAspect="1"/>
          </p:cNvPicPr>
          <p:nvPr/>
        </p:nvPicPr>
        <p:blipFill>
          <a:blip r:embed="rId2"/>
          <a:stretch>
            <a:fillRect/>
          </a:stretch>
        </p:blipFill>
        <p:spPr>
          <a:xfrm>
            <a:off x="3543300" y="1394460"/>
            <a:ext cx="228600" cy="228600"/>
          </a:xfrm>
          <a:prstGeom prst="rect">
            <a:avLst/>
          </a:prstGeom>
        </p:spPr>
      </p:pic>
      <p:sp>
        <p:nvSpPr>
          <p:cNvPr id="12" name="text-177"/>
          <p:cNvSpPr txBox="1"/>
          <p:nvPr/>
        </p:nvSpPr>
        <p:spPr>
          <a:xfrm>
            <a:off x="4023360" y="1261872"/>
            <a:ext cx="173736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Customer</a:t>
            </a:r>
            <a:endParaRPr lang="en-US" sz="1800" dirty="0"/>
          </a:p>
        </p:txBody>
      </p:sp>
      <p:sp>
        <p:nvSpPr>
          <p:cNvPr id="13" name="text-178"/>
          <p:cNvSpPr txBox="1"/>
          <p:nvPr/>
        </p:nvSpPr>
        <p:spPr>
          <a:xfrm>
            <a:off x="4023360" y="1554480"/>
            <a:ext cx="1783080" cy="228600"/>
          </a:xfrm>
          <a:prstGeom prst="rect">
            <a:avLst/>
          </a:prstGeom>
          <a:noFill/>
          <a:ln/>
        </p:spPr>
        <p:txBody>
          <a:bodyPr wrap="square" lIns="0" tIns="0" rIns="0" bIns="0" rtlCol="0" anchor="t"/>
          <a:lstStyle/>
          <a:p>
            <a:pPr indent="0" marL="0">
              <a:buNone/>
            </a:pPr>
            <a:r>
              <a:rPr lang="en-US" sz="1200" dirty="0">
                <a:solidFill>
                  <a:schemeClr val="accent3"/>
                </a:solidFill>
              </a:rPr>
              <a:t>5 routes · login required</a:t>
            </a:r>
            <a:endParaRPr lang="en-US" sz="1200" dirty="0"/>
          </a:p>
        </p:txBody>
      </p:sp>
      <p:sp>
        <p:nvSpPr>
          <p:cNvPr id="14" name="text-179"/>
          <p:cNvSpPr txBox="1"/>
          <p:nvPr/>
        </p:nvSpPr>
        <p:spPr>
          <a:xfrm>
            <a:off x="3429000" y="2011680"/>
            <a:ext cx="2377440" cy="1828800"/>
          </a:xfrm>
          <a:prstGeom prst="rect">
            <a:avLst/>
          </a:prstGeom>
          <a:noFill/>
          <a:ln/>
        </p:spPr>
        <p:txBody>
          <a:bodyPr wrap="square" lIns="0" tIns="0" rIns="0" bIns="0" rtlCol="0" anchor="t"/>
          <a:lstStyle/>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/profile</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/cart</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/wishlist</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/checkout</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/orders</a:t>
            </a:r>
            <a:endParaRPr lang="en-US" sz="1300" dirty="0"/>
          </a:p>
        </p:txBody>
      </p:sp>
      <p:sp>
        <p:nvSpPr>
          <p:cNvPr id="15" name="card-180"/>
          <p:cNvSpPr/>
          <p:nvPr/>
        </p:nvSpPr>
        <p:spPr>
          <a:xfrm>
            <a:off x="6035040" y="1143000"/>
            <a:ext cx="2651760" cy="2788920"/>
          </a:xfrm>
          <a:prstGeom prst="roundRect">
            <a:avLst>
              <a:gd name="adj" fmla="val 3448"/>
            </a:avLst>
          </a:prstGeom>
          <a:solidFill>
            <a:schemeClr val="bg2"/>
          </a:solidFill>
          <a:ln/>
        </p:spPr>
      </p:sp>
      <p:sp>
        <p:nvSpPr>
          <p:cNvPr id="16" name="iconbg-181"/>
          <p:cNvSpPr/>
          <p:nvPr/>
        </p:nvSpPr>
        <p:spPr>
          <a:xfrm>
            <a:off x="6217920" y="1280160"/>
            <a:ext cx="457200" cy="457200"/>
          </a:xfrm>
          <a:prstGeom prst="ellipse">
            <a:avLst/>
          </a:prstGeom>
          <a:solidFill>
            <a:schemeClr val="tx2"/>
          </a:solidFill>
          <a:ln/>
        </p:spPr>
      </p:sp>
      <p:pic>
        <p:nvPicPr>
          <p:cNvPr id="17" name="icon-182" descr="UserShield icon">    </p:cNvPr>
          <p:cNvPicPr>
            <a:picLocks noChangeAspect="1"/>
          </p:cNvPicPr>
          <p:nvPr/>
        </p:nvPicPr>
        <p:blipFill>
          <a:blip r:embed="rId3"/>
          <a:stretch>
            <a:fillRect/>
          </a:stretch>
        </p:blipFill>
        <p:spPr>
          <a:xfrm>
            <a:off x="6332220" y="1394460"/>
            <a:ext cx="228600" cy="228600"/>
          </a:xfrm>
          <a:prstGeom prst="rect">
            <a:avLst/>
          </a:prstGeom>
        </p:spPr>
      </p:pic>
      <p:sp>
        <p:nvSpPr>
          <p:cNvPr id="18" name="text-183"/>
          <p:cNvSpPr txBox="1"/>
          <p:nvPr/>
        </p:nvSpPr>
        <p:spPr>
          <a:xfrm>
            <a:off x="6812280" y="1261872"/>
            <a:ext cx="173736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Admin</a:t>
            </a:r>
            <a:endParaRPr lang="en-US" sz="1800" dirty="0"/>
          </a:p>
        </p:txBody>
      </p:sp>
      <p:sp>
        <p:nvSpPr>
          <p:cNvPr id="19" name="text-184"/>
          <p:cNvSpPr txBox="1"/>
          <p:nvPr/>
        </p:nvSpPr>
        <p:spPr>
          <a:xfrm>
            <a:off x="6812280" y="1554480"/>
            <a:ext cx="1783080" cy="228600"/>
          </a:xfrm>
          <a:prstGeom prst="rect">
            <a:avLst/>
          </a:prstGeom>
          <a:noFill/>
          <a:ln/>
        </p:spPr>
        <p:txBody>
          <a:bodyPr wrap="square" lIns="0" tIns="0" rIns="0" bIns="0" rtlCol="0" anchor="t"/>
          <a:lstStyle/>
          <a:p>
            <a:pPr indent="0" marL="0">
              <a:buNone/>
            </a:pPr>
            <a:r>
              <a:rPr lang="en-US" sz="1200" dirty="0">
                <a:solidFill>
                  <a:schemeClr val="accent3"/>
                </a:solidFill>
              </a:rPr>
              <a:t>7 routes · admin only</a:t>
            </a:r>
            <a:endParaRPr lang="en-US" sz="1200" dirty="0"/>
          </a:p>
        </p:txBody>
      </p:sp>
      <p:sp>
        <p:nvSpPr>
          <p:cNvPr id="20" name="text-185"/>
          <p:cNvSpPr txBox="1"/>
          <p:nvPr/>
        </p:nvSpPr>
        <p:spPr>
          <a:xfrm>
            <a:off x="6217920" y="2011680"/>
            <a:ext cx="2377440" cy="1828800"/>
          </a:xfrm>
          <a:prstGeom prst="rect">
            <a:avLst/>
          </a:prstGeom>
          <a:noFill/>
          <a:ln/>
        </p:spPr>
        <p:txBody>
          <a:bodyPr wrap="square" lIns="0" tIns="0" rIns="0" bIns="0" rtlCol="0" anchor="t"/>
          <a:lstStyle/>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/admin</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/admin/products</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/admin/add-product</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/admin/edit-product/:id</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/admin/users</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/admin/orders</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/admin/categories</a:t>
            </a:r>
            <a:endParaRPr lang="en-US" sz="1300" dirty="0"/>
          </a:p>
        </p:txBody>
      </p:sp>
      <p:sp>
        <p:nvSpPr>
          <p:cNvPr id="21" name="card-186"/>
          <p:cNvSpPr/>
          <p:nvPr/>
        </p:nvSpPr>
        <p:spPr>
          <a:xfrm>
            <a:off x="457200" y="4069080"/>
            <a:ext cx="8229600" cy="594360"/>
          </a:xfrm>
          <a:prstGeom prst="roundRect">
            <a:avLst>
              <a:gd name="adj" fmla="val 15385"/>
            </a:avLst>
          </a:prstGeom>
          <a:solidFill>
            <a:schemeClr val="tx2"/>
          </a:solidFill>
          <a:ln/>
        </p:spPr>
      </p:sp>
      <p:sp>
        <p:nvSpPr>
          <p:cNvPr id="22" name="text-187"/>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400" dirty="0">
                <a:solidFill>
                  <a:schemeClr val="bg1"/>
                </a:solidFill>
              </a:rPr>
              <a:t>ProtectedRoute redirects:  no user → /login   ·   customer on an admin URL → /   ·   admin on a customer URL → /admin</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The customer journey</a:t>
            </a:r>
            <a:endParaRPr lang="en-US" sz="3400" dirty="0"/>
          </a:p>
        </p:txBody>
      </p:sp>
      <p:sp>
        <p:nvSpPr>
          <p:cNvPr id="3" name="card-188"/>
          <p:cNvSpPr/>
          <p:nvPr/>
        </p:nvSpPr>
        <p:spPr>
          <a:xfrm>
            <a:off x="457200" y="1188720"/>
            <a:ext cx="1828800" cy="1463040"/>
          </a:xfrm>
          <a:prstGeom prst="roundRect">
            <a:avLst>
              <a:gd name="adj" fmla="val 6250"/>
            </a:avLst>
          </a:prstGeom>
          <a:solidFill>
            <a:schemeClr val="bg2"/>
          </a:solidFill>
          <a:ln/>
        </p:spPr>
      </p:sp>
      <p:sp>
        <p:nvSpPr>
          <p:cNvPr id="4" name="num-189"/>
          <p:cNvSpPr txBox="1"/>
          <p:nvPr/>
        </p:nvSpPr>
        <p:spPr>
          <a:xfrm>
            <a:off x="621792" y="133502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text-190"/>
          <p:cNvSpPr txBox="1"/>
          <p:nvPr/>
        </p:nvSpPr>
        <p:spPr>
          <a:xfrm>
            <a:off x="621792" y="1810512"/>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Register</a:t>
            </a:r>
            <a:endParaRPr lang="en-US" sz="1600" dirty="0"/>
          </a:p>
        </p:txBody>
      </p:sp>
      <p:sp>
        <p:nvSpPr>
          <p:cNvPr id="6" name="text-191"/>
          <p:cNvSpPr txBox="1"/>
          <p:nvPr/>
        </p:nvSpPr>
        <p:spPr>
          <a:xfrm>
            <a:off x="621792" y="2139696"/>
            <a:ext cx="1554480" cy="457200"/>
          </a:xfrm>
          <a:prstGeom prst="rect">
            <a:avLst/>
          </a:prstGeom>
          <a:noFill/>
          <a:ln/>
        </p:spPr>
        <p:txBody>
          <a:bodyPr wrap="square" lIns="0" tIns="0" rIns="0" bIns="0" rtlCol="0" anchor="t"/>
          <a:lstStyle/>
          <a:p>
            <a:pPr indent="0" marL="0">
              <a:buNone/>
            </a:pPr>
            <a:r>
              <a:rPr lang="en-US" sz="1400" dirty="0">
                <a:solidFill>
                  <a:schemeClr val="accent3"/>
                </a:solidFill>
              </a:rPr>
              <a:t>Sign up with validation</a:t>
            </a:r>
            <a:endParaRPr lang="en-US" sz="1400" dirty="0"/>
          </a:p>
        </p:txBody>
      </p:sp>
      <p:sp>
        <p:nvSpPr>
          <p:cNvPr id="7" name="arrow-192"/>
          <p:cNvSpPr/>
          <p:nvPr/>
        </p:nvSpPr>
        <p:spPr>
          <a:xfrm>
            <a:off x="2313432" y="1920240"/>
            <a:ext cx="246888" cy="0"/>
          </a:xfrm>
          <a:prstGeom prst="line">
            <a:avLst/>
          </a:prstGeom>
          <a:noFill/>
          <a:ln w="25400">
            <a:solidFill>
              <a:schemeClr val="accent3"/>
            </a:solidFill>
            <a:prstDash val="solid"/>
            <a:tailEnd type="triangle"/>
          </a:ln>
        </p:spPr>
      </p:sp>
      <p:sp>
        <p:nvSpPr>
          <p:cNvPr id="8" name="card-193"/>
          <p:cNvSpPr/>
          <p:nvPr/>
        </p:nvSpPr>
        <p:spPr>
          <a:xfrm>
            <a:off x="2590770" y="1188720"/>
            <a:ext cx="1828800" cy="1463040"/>
          </a:xfrm>
          <a:prstGeom prst="roundRect">
            <a:avLst>
              <a:gd name="adj" fmla="val 6250"/>
            </a:avLst>
          </a:prstGeom>
          <a:solidFill>
            <a:schemeClr val="bg2"/>
          </a:solidFill>
          <a:ln/>
        </p:spPr>
      </p:sp>
      <p:sp>
        <p:nvSpPr>
          <p:cNvPr id="9" name="num-194"/>
          <p:cNvSpPr txBox="1"/>
          <p:nvPr/>
        </p:nvSpPr>
        <p:spPr>
          <a:xfrm>
            <a:off x="2755362" y="133502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text-195"/>
          <p:cNvSpPr txBox="1"/>
          <p:nvPr/>
        </p:nvSpPr>
        <p:spPr>
          <a:xfrm>
            <a:off x="2755362" y="1810512"/>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Login</a:t>
            </a:r>
            <a:endParaRPr lang="en-US" sz="1600" dirty="0"/>
          </a:p>
        </p:txBody>
      </p:sp>
      <p:sp>
        <p:nvSpPr>
          <p:cNvPr id="11" name="text-196"/>
          <p:cNvSpPr txBox="1"/>
          <p:nvPr/>
        </p:nvSpPr>
        <p:spPr>
          <a:xfrm>
            <a:off x="2755362" y="2139696"/>
            <a:ext cx="1554480" cy="457200"/>
          </a:xfrm>
          <a:prstGeom prst="rect">
            <a:avLst/>
          </a:prstGeom>
          <a:noFill/>
          <a:ln/>
        </p:spPr>
        <p:txBody>
          <a:bodyPr wrap="square" lIns="0" tIns="0" rIns="0" bIns="0" rtlCol="0" anchor="t"/>
          <a:lstStyle/>
          <a:p>
            <a:pPr indent="0" marL="0">
              <a:buNone/>
            </a:pPr>
            <a:r>
              <a:rPr lang="en-US" sz="1400" dirty="0">
                <a:solidFill>
                  <a:schemeClr val="accent3"/>
                </a:solidFill>
              </a:rPr>
              <a:t>Customer or admin sign-in</a:t>
            </a:r>
            <a:endParaRPr lang="en-US" sz="1400" dirty="0"/>
          </a:p>
        </p:txBody>
      </p:sp>
      <p:sp>
        <p:nvSpPr>
          <p:cNvPr id="12" name="arrow-197"/>
          <p:cNvSpPr/>
          <p:nvPr/>
        </p:nvSpPr>
        <p:spPr>
          <a:xfrm>
            <a:off x="4447002" y="1920240"/>
            <a:ext cx="246888" cy="0"/>
          </a:xfrm>
          <a:prstGeom prst="line">
            <a:avLst/>
          </a:prstGeom>
          <a:noFill/>
          <a:ln w="25400">
            <a:solidFill>
              <a:schemeClr val="accent3"/>
            </a:solidFill>
            <a:prstDash val="solid"/>
            <a:tailEnd type="triangle"/>
          </a:ln>
        </p:spPr>
      </p:sp>
      <p:sp>
        <p:nvSpPr>
          <p:cNvPr id="13" name="card-198"/>
          <p:cNvSpPr/>
          <p:nvPr/>
        </p:nvSpPr>
        <p:spPr>
          <a:xfrm>
            <a:off x="4724339" y="1188720"/>
            <a:ext cx="1828800" cy="1463040"/>
          </a:xfrm>
          <a:prstGeom prst="roundRect">
            <a:avLst>
              <a:gd name="adj" fmla="val 6250"/>
            </a:avLst>
          </a:prstGeom>
          <a:solidFill>
            <a:schemeClr val="bg2"/>
          </a:solidFill>
          <a:ln/>
        </p:spPr>
      </p:sp>
      <p:sp>
        <p:nvSpPr>
          <p:cNvPr id="14" name="num-199"/>
          <p:cNvSpPr txBox="1"/>
          <p:nvPr/>
        </p:nvSpPr>
        <p:spPr>
          <a:xfrm>
            <a:off x="4888931" y="133502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5" name="text-200"/>
          <p:cNvSpPr txBox="1"/>
          <p:nvPr/>
        </p:nvSpPr>
        <p:spPr>
          <a:xfrm>
            <a:off x="4888931" y="1810512"/>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Browse</a:t>
            </a:r>
            <a:endParaRPr lang="en-US" sz="1600" dirty="0"/>
          </a:p>
        </p:txBody>
      </p:sp>
      <p:sp>
        <p:nvSpPr>
          <p:cNvPr id="16" name="text-201"/>
          <p:cNvSpPr txBox="1"/>
          <p:nvPr/>
        </p:nvSpPr>
        <p:spPr>
          <a:xfrm>
            <a:off x="4888931" y="2139696"/>
            <a:ext cx="1554480" cy="457200"/>
          </a:xfrm>
          <a:prstGeom prst="rect">
            <a:avLst/>
          </a:prstGeom>
          <a:noFill/>
          <a:ln/>
        </p:spPr>
        <p:txBody>
          <a:bodyPr wrap="square" lIns="0" tIns="0" rIns="0" bIns="0" rtlCol="0" anchor="t"/>
          <a:lstStyle/>
          <a:p>
            <a:pPr indent="0" marL="0">
              <a:buNone/>
            </a:pPr>
            <a:r>
              <a:rPr lang="en-US" sz="1400" dirty="0">
                <a:solidFill>
                  <a:schemeClr val="accent3"/>
                </a:solidFill>
              </a:rPr>
              <a:t>Home and catalogue, live stock</a:t>
            </a:r>
            <a:endParaRPr lang="en-US" sz="1400" dirty="0"/>
          </a:p>
        </p:txBody>
      </p:sp>
      <p:sp>
        <p:nvSpPr>
          <p:cNvPr id="17" name="arrow-202"/>
          <p:cNvSpPr/>
          <p:nvPr/>
        </p:nvSpPr>
        <p:spPr>
          <a:xfrm>
            <a:off x="6580571" y="1920240"/>
            <a:ext cx="246888" cy="0"/>
          </a:xfrm>
          <a:prstGeom prst="line">
            <a:avLst/>
          </a:prstGeom>
          <a:noFill/>
          <a:ln w="25400">
            <a:solidFill>
              <a:schemeClr val="accent3"/>
            </a:solidFill>
            <a:prstDash val="solid"/>
            <a:tailEnd type="triangle"/>
          </a:ln>
        </p:spPr>
      </p:sp>
      <p:sp>
        <p:nvSpPr>
          <p:cNvPr id="18" name="card-203"/>
          <p:cNvSpPr/>
          <p:nvPr/>
        </p:nvSpPr>
        <p:spPr>
          <a:xfrm>
            <a:off x="6857909" y="1188720"/>
            <a:ext cx="1828800" cy="1463040"/>
          </a:xfrm>
          <a:prstGeom prst="roundRect">
            <a:avLst>
              <a:gd name="adj" fmla="val 6250"/>
            </a:avLst>
          </a:prstGeom>
          <a:solidFill>
            <a:schemeClr val="bg2"/>
          </a:solidFill>
          <a:ln/>
        </p:spPr>
      </p:sp>
      <p:sp>
        <p:nvSpPr>
          <p:cNvPr id="19" name="num-204"/>
          <p:cNvSpPr txBox="1"/>
          <p:nvPr/>
        </p:nvSpPr>
        <p:spPr>
          <a:xfrm>
            <a:off x="7022501" y="133502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0" name="text-205"/>
          <p:cNvSpPr txBox="1"/>
          <p:nvPr/>
        </p:nvSpPr>
        <p:spPr>
          <a:xfrm>
            <a:off x="7022501" y="1810512"/>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Search and filter</a:t>
            </a:r>
            <a:endParaRPr lang="en-US" sz="1600" dirty="0"/>
          </a:p>
        </p:txBody>
      </p:sp>
      <p:sp>
        <p:nvSpPr>
          <p:cNvPr id="21" name="text-206"/>
          <p:cNvSpPr txBox="1"/>
          <p:nvPr/>
        </p:nvSpPr>
        <p:spPr>
          <a:xfrm>
            <a:off x="7022501" y="2139696"/>
            <a:ext cx="1554480" cy="457200"/>
          </a:xfrm>
          <a:prstGeom prst="rect">
            <a:avLst/>
          </a:prstGeom>
          <a:noFill/>
          <a:ln/>
        </p:spPr>
        <p:txBody>
          <a:bodyPr wrap="square" lIns="0" tIns="0" rIns="0" bIns="0" rtlCol="0" anchor="t"/>
          <a:lstStyle/>
          <a:p>
            <a:pPr indent="0" marL="0">
              <a:buNone/>
            </a:pPr>
            <a:r>
              <a:rPr lang="en-US" sz="1400" dirty="0">
                <a:solidFill>
                  <a:schemeClr val="accent3"/>
                </a:solidFill>
              </a:rPr>
              <a:t>By name, description, category</a:t>
            </a:r>
            <a:endParaRPr lang="en-US" sz="1400" dirty="0"/>
          </a:p>
        </p:txBody>
      </p:sp>
      <p:sp>
        <p:nvSpPr>
          <p:cNvPr id="22" name="card-207"/>
          <p:cNvSpPr/>
          <p:nvPr/>
        </p:nvSpPr>
        <p:spPr>
          <a:xfrm>
            <a:off x="457200" y="2926080"/>
            <a:ext cx="1828800" cy="1463040"/>
          </a:xfrm>
          <a:prstGeom prst="roundRect">
            <a:avLst>
              <a:gd name="adj" fmla="val 6250"/>
            </a:avLst>
          </a:prstGeom>
          <a:solidFill>
            <a:schemeClr val="bg2"/>
          </a:solidFill>
          <a:ln/>
        </p:spPr>
      </p:sp>
      <p:sp>
        <p:nvSpPr>
          <p:cNvPr id="23" name="num-208"/>
          <p:cNvSpPr txBox="1"/>
          <p:nvPr/>
        </p:nvSpPr>
        <p:spPr>
          <a:xfrm>
            <a:off x="621792" y="307238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4" name="text-209"/>
          <p:cNvSpPr txBox="1"/>
          <p:nvPr/>
        </p:nvSpPr>
        <p:spPr>
          <a:xfrm>
            <a:off x="621792" y="3547872"/>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Product details</a:t>
            </a:r>
            <a:endParaRPr lang="en-US" sz="1600" dirty="0"/>
          </a:p>
        </p:txBody>
      </p:sp>
      <p:sp>
        <p:nvSpPr>
          <p:cNvPr id="25" name="text-210"/>
          <p:cNvSpPr txBox="1"/>
          <p:nvPr/>
        </p:nvSpPr>
        <p:spPr>
          <a:xfrm>
            <a:off x="621792" y="3877056"/>
            <a:ext cx="1554480" cy="457200"/>
          </a:xfrm>
          <a:prstGeom prst="rect">
            <a:avLst/>
          </a:prstGeom>
          <a:noFill/>
          <a:ln/>
        </p:spPr>
        <p:txBody>
          <a:bodyPr wrap="square" lIns="0" tIns="0" rIns="0" bIns="0" rtlCol="0" anchor="t"/>
          <a:lstStyle/>
          <a:p>
            <a:pPr indent="0" marL="0">
              <a:buNone/>
            </a:pPr>
            <a:r>
              <a:rPr lang="en-US" sz="1400" dirty="0">
                <a:solidFill>
                  <a:schemeClr val="accent3"/>
                </a:solidFill>
              </a:rPr>
              <a:t>Price, unit and stock level</a:t>
            </a:r>
            <a:endParaRPr lang="en-US" sz="1400" dirty="0"/>
          </a:p>
        </p:txBody>
      </p:sp>
      <p:sp>
        <p:nvSpPr>
          <p:cNvPr id="26" name="arrow-211"/>
          <p:cNvSpPr/>
          <p:nvPr/>
        </p:nvSpPr>
        <p:spPr>
          <a:xfrm>
            <a:off x="2313432" y="3657600"/>
            <a:ext cx="246888" cy="0"/>
          </a:xfrm>
          <a:prstGeom prst="line">
            <a:avLst/>
          </a:prstGeom>
          <a:noFill/>
          <a:ln w="25400">
            <a:solidFill>
              <a:schemeClr val="accent3"/>
            </a:solidFill>
            <a:prstDash val="solid"/>
            <a:tailEnd type="triangle"/>
          </a:ln>
        </p:spPr>
      </p:sp>
      <p:sp>
        <p:nvSpPr>
          <p:cNvPr id="27" name="card-212"/>
          <p:cNvSpPr/>
          <p:nvPr/>
        </p:nvSpPr>
        <p:spPr>
          <a:xfrm>
            <a:off x="2590770" y="2926080"/>
            <a:ext cx="1828800" cy="1463040"/>
          </a:xfrm>
          <a:prstGeom prst="roundRect">
            <a:avLst>
              <a:gd name="adj" fmla="val 6250"/>
            </a:avLst>
          </a:prstGeom>
          <a:solidFill>
            <a:schemeClr val="bg2"/>
          </a:solidFill>
          <a:ln/>
        </p:spPr>
      </p:sp>
      <p:sp>
        <p:nvSpPr>
          <p:cNvPr id="28" name="num-213"/>
          <p:cNvSpPr txBox="1"/>
          <p:nvPr/>
        </p:nvSpPr>
        <p:spPr>
          <a:xfrm>
            <a:off x="2755362" y="307238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9" name="text-214"/>
          <p:cNvSpPr txBox="1"/>
          <p:nvPr/>
        </p:nvSpPr>
        <p:spPr>
          <a:xfrm>
            <a:off x="2755362" y="3547872"/>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Cart and wishlist</a:t>
            </a:r>
            <a:endParaRPr lang="en-US" sz="1600" dirty="0"/>
          </a:p>
        </p:txBody>
      </p:sp>
      <p:sp>
        <p:nvSpPr>
          <p:cNvPr id="30" name="text-215"/>
          <p:cNvSpPr txBox="1"/>
          <p:nvPr/>
        </p:nvSpPr>
        <p:spPr>
          <a:xfrm>
            <a:off x="2755362" y="3877056"/>
            <a:ext cx="1554480" cy="457200"/>
          </a:xfrm>
          <a:prstGeom prst="rect">
            <a:avLst/>
          </a:prstGeom>
          <a:noFill/>
          <a:ln/>
        </p:spPr>
        <p:txBody>
          <a:bodyPr wrap="square" lIns="0" tIns="0" rIns="0" bIns="0" rtlCol="0" anchor="t"/>
          <a:lstStyle/>
          <a:p>
            <a:pPr indent="0" marL="0">
              <a:buNone/>
            </a:pPr>
            <a:r>
              <a:rPr lang="en-US" sz="1400" dirty="0">
                <a:solidFill>
                  <a:schemeClr val="accent3"/>
                </a:solidFill>
              </a:rPr>
              <a:t>Quantity capped at stock</a:t>
            </a:r>
            <a:endParaRPr lang="en-US" sz="1400" dirty="0"/>
          </a:p>
        </p:txBody>
      </p:sp>
      <p:sp>
        <p:nvSpPr>
          <p:cNvPr id="31" name="arrow-216"/>
          <p:cNvSpPr/>
          <p:nvPr/>
        </p:nvSpPr>
        <p:spPr>
          <a:xfrm>
            <a:off x="4447002" y="3657600"/>
            <a:ext cx="246888" cy="0"/>
          </a:xfrm>
          <a:prstGeom prst="line">
            <a:avLst/>
          </a:prstGeom>
          <a:noFill/>
          <a:ln w="25400">
            <a:solidFill>
              <a:schemeClr val="accent3"/>
            </a:solidFill>
            <a:prstDash val="solid"/>
            <a:tailEnd type="triangle"/>
          </a:ln>
        </p:spPr>
      </p:sp>
      <p:sp>
        <p:nvSpPr>
          <p:cNvPr id="32" name="card-217"/>
          <p:cNvSpPr/>
          <p:nvPr/>
        </p:nvSpPr>
        <p:spPr>
          <a:xfrm>
            <a:off x="4724339" y="2926080"/>
            <a:ext cx="1828800" cy="1463040"/>
          </a:xfrm>
          <a:prstGeom prst="roundRect">
            <a:avLst>
              <a:gd name="adj" fmla="val 6250"/>
            </a:avLst>
          </a:prstGeom>
          <a:solidFill>
            <a:schemeClr val="bg2"/>
          </a:solidFill>
          <a:ln/>
        </p:spPr>
      </p:sp>
      <p:sp>
        <p:nvSpPr>
          <p:cNvPr id="33" name="num-218"/>
          <p:cNvSpPr txBox="1"/>
          <p:nvPr/>
        </p:nvSpPr>
        <p:spPr>
          <a:xfrm>
            <a:off x="4888931" y="307238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34" name="text-219"/>
          <p:cNvSpPr txBox="1"/>
          <p:nvPr/>
        </p:nvSpPr>
        <p:spPr>
          <a:xfrm>
            <a:off x="4888931" y="3547872"/>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Checkout</a:t>
            </a:r>
            <a:endParaRPr lang="en-US" sz="1600" dirty="0"/>
          </a:p>
        </p:txBody>
      </p:sp>
      <p:sp>
        <p:nvSpPr>
          <p:cNvPr id="35" name="text-220"/>
          <p:cNvSpPr txBox="1"/>
          <p:nvPr/>
        </p:nvSpPr>
        <p:spPr>
          <a:xfrm>
            <a:off x="4888931" y="3877056"/>
            <a:ext cx="1554480" cy="457200"/>
          </a:xfrm>
          <a:prstGeom prst="rect">
            <a:avLst/>
          </a:prstGeom>
          <a:noFill/>
          <a:ln/>
        </p:spPr>
        <p:txBody>
          <a:bodyPr wrap="square" lIns="0" tIns="0" rIns="0" bIns="0" rtlCol="0" anchor="t"/>
          <a:lstStyle/>
          <a:p>
            <a:pPr indent="0" marL="0">
              <a:buNone/>
            </a:pPr>
            <a:r>
              <a:rPr lang="en-US" sz="1400" dirty="0">
                <a:solidFill>
                  <a:schemeClr val="accent3"/>
                </a:solidFill>
              </a:rPr>
              <a:t>Delivery details, COD or UPI</a:t>
            </a:r>
            <a:endParaRPr lang="en-US" sz="1400" dirty="0"/>
          </a:p>
        </p:txBody>
      </p:sp>
      <p:sp>
        <p:nvSpPr>
          <p:cNvPr id="36" name="arrow-221"/>
          <p:cNvSpPr/>
          <p:nvPr/>
        </p:nvSpPr>
        <p:spPr>
          <a:xfrm>
            <a:off x="6580571" y="3657600"/>
            <a:ext cx="246888" cy="0"/>
          </a:xfrm>
          <a:prstGeom prst="line">
            <a:avLst/>
          </a:prstGeom>
          <a:noFill/>
          <a:ln w="25400">
            <a:solidFill>
              <a:schemeClr val="accent3"/>
            </a:solidFill>
            <a:prstDash val="solid"/>
            <a:tailEnd type="triangle"/>
          </a:ln>
        </p:spPr>
      </p:sp>
      <p:sp>
        <p:nvSpPr>
          <p:cNvPr id="37" name="card-222"/>
          <p:cNvSpPr/>
          <p:nvPr/>
        </p:nvSpPr>
        <p:spPr>
          <a:xfrm>
            <a:off x="6857909" y="2926080"/>
            <a:ext cx="1828800" cy="1463040"/>
          </a:xfrm>
          <a:prstGeom prst="roundRect">
            <a:avLst>
              <a:gd name="adj" fmla="val 6250"/>
            </a:avLst>
          </a:prstGeom>
          <a:solidFill>
            <a:schemeClr val="bg2"/>
          </a:solidFill>
          <a:ln/>
        </p:spPr>
      </p:sp>
      <p:sp>
        <p:nvSpPr>
          <p:cNvPr id="38" name="num-223"/>
          <p:cNvSpPr txBox="1"/>
          <p:nvPr/>
        </p:nvSpPr>
        <p:spPr>
          <a:xfrm>
            <a:off x="7022501" y="307238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39" name="text-224"/>
          <p:cNvSpPr txBox="1"/>
          <p:nvPr/>
        </p:nvSpPr>
        <p:spPr>
          <a:xfrm>
            <a:off x="7022501" y="3547872"/>
            <a:ext cx="1554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My orders</a:t>
            </a:r>
            <a:endParaRPr lang="en-US" sz="1600" dirty="0"/>
          </a:p>
        </p:txBody>
      </p:sp>
      <p:sp>
        <p:nvSpPr>
          <p:cNvPr id="40" name="text-225"/>
          <p:cNvSpPr txBox="1"/>
          <p:nvPr/>
        </p:nvSpPr>
        <p:spPr>
          <a:xfrm>
            <a:off x="7022501" y="3877056"/>
            <a:ext cx="1554480" cy="457200"/>
          </a:xfrm>
          <a:prstGeom prst="rect">
            <a:avLst/>
          </a:prstGeom>
          <a:noFill/>
          <a:ln/>
        </p:spPr>
        <p:txBody>
          <a:bodyPr wrap="square" lIns="0" tIns="0" rIns="0" bIns="0" rtlCol="0" anchor="t"/>
          <a:lstStyle/>
          <a:p>
            <a:pPr indent="0" marL="0">
              <a:buNone/>
            </a:pPr>
            <a:r>
              <a:rPr lang="en-US" sz="1400" dirty="0">
                <a:solidFill>
                  <a:schemeClr val="accent3"/>
                </a:solidFill>
              </a:rPr>
              <a:t>History with status badges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State management</a:t>
            </a:r>
            <a:endParaRPr lang="en-US" sz="3400" dirty="0"/>
          </a:p>
        </p:txBody>
      </p:sp>
      <p:sp>
        <p:nvSpPr>
          <p:cNvPr id="3" name="card-226"/>
          <p:cNvSpPr/>
          <p:nvPr/>
        </p:nvSpPr>
        <p:spPr>
          <a:xfrm>
            <a:off x="457200" y="1143000"/>
            <a:ext cx="1920240" cy="2194560"/>
          </a:xfrm>
          <a:prstGeom prst="roundRect">
            <a:avLst>
              <a:gd name="adj" fmla="val 4762"/>
            </a:avLst>
          </a:prstGeom>
          <a:solidFill>
            <a:schemeClr val="bg2"/>
          </a:solidFill>
          <a:ln/>
        </p:spPr>
      </p:sp>
      <p:sp>
        <p:nvSpPr>
          <p:cNvPr id="4" name="iconbg-227"/>
          <p:cNvSpPr/>
          <p:nvPr/>
        </p:nvSpPr>
        <p:spPr>
          <a:xfrm>
            <a:off x="621792" y="1280160"/>
            <a:ext cx="411480" cy="411480"/>
          </a:xfrm>
          <a:prstGeom prst="ellipse">
            <a:avLst/>
          </a:prstGeom>
          <a:solidFill>
            <a:schemeClr val="tx2"/>
          </a:solidFill>
          <a:ln/>
        </p:spPr>
      </p:sp>
      <p:pic>
        <p:nvPicPr>
          <p:cNvPr id="5" name="icon-228" descr="Boxes icon">    </p:cNvPr>
          <p:cNvPicPr>
            <a:picLocks noChangeAspect="1"/>
          </p:cNvPicPr>
          <p:nvPr/>
        </p:nvPicPr>
        <p:blipFill>
          <a:blip r:embed="rId1"/>
          <a:stretch>
            <a:fillRect/>
          </a:stretch>
        </p:blipFill>
        <p:spPr>
          <a:xfrm>
            <a:off x="724662" y="1383030"/>
            <a:ext cx="205740" cy="205740"/>
          </a:xfrm>
          <a:prstGeom prst="rect">
            <a:avLst/>
          </a:prstGeom>
        </p:spPr>
      </p:pic>
      <p:sp>
        <p:nvSpPr>
          <p:cNvPr id="6" name="text-229"/>
          <p:cNvSpPr txBox="1"/>
          <p:nvPr/>
        </p:nvSpPr>
        <p:spPr>
          <a:xfrm>
            <a:off x="621792" y="1783080"/>
            <a:ext cx="1645920" cy="27432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productSlice</a:t>
            </a:r>
            <a:endParaRPr lang="en-US" sz="1400" dirty="0"/>
          </a:p>
        </p:txBody>
      </p:sp>
      <p:sp>
        <p:nvSpPr>
          <p:cNvPr id="7" name="text-230"/>
          <p:cNvSpPr txBox="1"/>
          <p:nvPr/>
        </p:nvSpPr>
        <p:spPr>
          <a:xfrm>
            <a:off x="621792" y="2103120"/>
            <a:ext cx="1691640" cy="1188720"/>
          </a:xfrm>
          <a:prstGeom prst="rect">
            <a:avLst/>
          </a:prstGeom>
          <a:noFill/>
          <a:ln/>
        </p:spPr>
        <p:txBody>
          <a:bodyPr wrap="square" lIns="0" tIns="0" rIns="0" bIns="0" rtlCol="0" anchor="t"/>
          <a:lstStyle/>
          <a:p>
            <a:pPr indent="0" marL="0">
              <a:spcAft>
                <a:spcPts val="100"/>
              </a:spcAft>
              <a:buNone/>
            </a:pPr>
            <a:r>
              <a:rPr lang="en-US" sz="1300" dirty="0">
                <a:solidFill>
                  <a:schemeClr val="tx1"/>
                </a:solidFill>
              </a:rPr>
              <a:t>addProduct</a:t>
            </a:r>
            <a:endParaRPr lang="en-US" sz="1300" dirty="0"/>
          </a:p>
          <a:p>
            <a:pPr indent="0" marL="0">
              <a:spcAft>
                <a:spcPts val="100"/>
              </a:spcAft>
              <a:buNone/>
            </a:pPr>
            <a:r>
              <a:rPr lang="en-US" sz="1300" dirty="0">
                <a:solidFill>
                  <a:schemeClr val="tx1"/>
                </a:solidFill>
              </a:rPr>
              <a:t>updateProduct</a:t>
            </a:r>
            <a:endParaRPr lang="en-US" sz="1300" dirty="0"/>
          </a:p>
          <a:p>
            <a:pPr indent="0" marL="0">
              <a:spcAft>
                <a:spcPts val="100"/>
              </a:spcAft>
              <a:buNone/>
            </a:pPr>
            <a:r>
              <a:rPr lang="en-US" sz="1300" dirty="0">
                <a:solidFill>
                  <a:schemeClr val="tx1"/>
                </a:solidFill>
              </a:rPr>
              <a:t>deleteProduct</a:t>
            </a:r>
            <a:endParaRPr lang="en-US" sz="1300" dirty="0"/>
          </a:p>
        </p:txBody>
      </p:sp>
      <p:sp>
        <p:nvSpPr>
          <p:cNvPr id="8" name="card-231"/>
          <p:cNvSpPr/>
          <p:nvPr/>
        </p:nvSpPr>
        <p:spPr>
          <a:xfrm>
            <a:off x="2560320" y="1143000"/>
            <a:ext cx="1920240" cy="2194560"/>
          </a:xfrm>
          <a:prstGeom prst="roundRect">
            <a:avLst>
              <a:gd name="adj" fmla="val 4762"/>
            </a:avLst>
          </a:prstGeom>
          <a:solidFill>
            <a:schemeClr val="bg2"/>
          </a:solidFill>
          <a:ln/>
        </p:spPr>
      </p:sp>
      <p:sp>
        <p:nvSpPr>
          <p:cNvPr id="9" name="iconbg-232"/>
          <p:cNvSpPr/>
          <p:nvPr/>
        </p:nvSpPr>
        <p:spPr>
          <a:xfrm>
            <a:off x="2724912" y="1280160"/>
            <a:ext cx="411480" cy="411480"/>
          </a:xfrm>
          <a:prstGeom prst="ellipse">
            <a:avLst/>
          </a:prstGeom>
          <a:solidFill>
            <a:schemeClr val="accent1"/>
          </a:solidFill>
          <a:ln/>
        </p:spPr>
      </p:sp>
      <p:pic>
        <p:nvPicPr>
          <p:cNvPr id="10" name="icon-233" descr="ShoppingCart icon">    </p:cNvPr>
          <p:cNvPicPr>
            <a:picLocks noChangeAspect="1"/>
          </p:cNvPicPr>
          <p:nvPr/>
        </p:nvPicPr>
        <p:blipFill>
          <a:blip r:embed="rId2"/>
          <a:stretch>
            <a:fillRect/>
          </a:stretch>
        </p:blipFill>
        <p:spPr>
          <a:xfrm>
            <a:off x="2827782" y="1383030"/>
            <a:ext cx="205740" cy="205740"/>
          </a:xfrm>
          <a:prstGeom prst="rect">
            <a:avLst/>
          </a:prstGeom>
        </p:spPr>
      </p:pic>
      <p:sp>
        <p:nvSpPr>
          <p:cNvPr id="11" name="text-234"/>
          <p:cNvSpPr txBox="1"/>
          <p:nvPr/>
        </p:nvSpPr>
        <p:spPr>
          <a:xfrm>
            <a:off x="2724912" y="1783080"/>
            <a:ext cx="1645920" cy="27432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cartSlice</a:t>
            </a:r>
            <a:endParaRPr lang="en-US" sz="1400" dirty="0"/>
          </a:p>
        </p:txBody>
      </p:sp>
      <p:sp>
        <p:nvSpPr>
          <p:cNvPr id="12" name="text-235"/>
          <p:cNvSpPr txBox="1"/>
          <p:nvPr/>
        </p:nvSpPr>
        <p:spPr>
          <a:xfrm>
            <a:off x="2724912" y="2103120"/>
            <a:ext cx="1691640" cy="1188720"/>
          </a:xfrm>
          <a:prstGeom prst="rect">
            <a:avLst/>
          </a:prstGeom>
          <a:noFill/>
          <a:ln/>
        </p:spPr>
        <p:txBody>
          <a:bodyPr wrap="square" lIns="0" tIns="0" rIns="0" bIns="0" rtlCol="0" anchor="t"/>
          <a:lstStyle/>
          <a:p>
            <a:pPr indent="0" marL="0">
              <a:spcAft>
                <a:spcPts val="100"/>
              </a:spcAft>
              <a:buNone/>
            </a:pPr>
            <a:r>
              <a:rPr lang="en-US" sz="1300" dirty="0">
                <a:solidFill>
                  <a:schemeClr val="tx1"/>
                </a:solidFill>
              </a:rPr>
              <a:t>addToCart</a:t>
            </a:r>
            <a:endParaRPr lang="en-US" sz="1300" dirty="0"/>
          </a:p>
          <a:p>
            <a:pPr indent="0" marL="0">
              <a:spcAft>
                <a:spcPts val="100"/>
              </a:spcAft>
              <a:buNone/>
            </a:pPr>
            <a:r>
              <a:rPr lang="en-US" sz="1300" dirty="0">
                <a:solidFill>
                  <a:schemeClr val="tx1"/>
                </a:solidFill>
              </a:rPr>
              <a:t>increaseQuantity</a:t>
            </a:r>
            <a:endParaRPr lang="en-US" sz="1300" dirty="0"/>
          </a:p>
          <a:p>
            <a:pPr indent="0" marL="0">
              <a:spcAft>
                <a:spcPts val="100"/>
              </a:spcAft>
              <a:buNone/>
            </a:pPr>
            <a:r>
              <a:rPr lang="en-US" sz="1300" dirty="0">
                <a:solidFill>
                  <a:schemeClr val="tx1"/>
                </a:solidFill>
              </a:rPr>
              <a:t>decreaseQuantity</a:t>
            </a:r>
            <a:endParaRPr lang="en-US" sz="1300" dirty="0"/>
          </a:p>
          <a:p>
            <a:pPr indent="0" marL="0">
              <a:spcAft>
                <a:spcPts val="100"/>
              </a:spcAft>
              <a:buNone/>
            </a:pPr>
            <a:r>
              <a:rPr lang="en-US" sz="1300" dirty="0">
                <a:solidFill>
                  <a:schemeClr val="tx1"/>
                </a:solidFill>
              </a:rPr>
              <a:t>removeFromCart</a:t>
            </a:r>
            <a:endParaRPr lang="en-US" sz="1300" dirty="0"/>
          </a:p>
          <a:p>
            <a:pPr indent="0" marL="0">
              <a:spcAft>
                <a:spcPts val="100"/>
              </a:spcAft>
              <a:buNone/>
            </a:pPr>
            <a:r>
              <a:rPr lang="en-US" sz="1300" dirty="0">
                <a:solidFill>
                  <a:schemeClr val="tx1"/>
                </a:solidFill>
              </a:rPr>
              <a:t>clearCart</a:t>
            </a:r>
            <a:endParaRPr lang="en-US" sz="1300" dirty="0"/>
          </a:p>
        </p:txBody>
      </p:sp>
      <p:sp>
        <p:nvSpPr>
          <p:cNvPr id="13" name="card-236"/>
          <p:cNvSpPr/>
          <p:nvPr/>
        </p:nvSpPr>
        <p:spPr>
          <a:xfrm>
            <a:off x="4663440" y="1143000"/>
            <a:ext cx="1920240" cy="2194560"/>
          </a:xfrm>
          <a:prstGeom prst="roundRect">
            <a:avLst>
              <a:gd name="adj" fmla="val 4762"/>
            </a:avLst>
          </a:prstGeom>
          <a:solidFill>
            <a:schemeClr val="bg2"/>
          </a:solidFill>
          <a:ln/>
        </p:spPr>
      </p:sp>
      <p:sp>
        <p:nvSpPr>
          <p:cNvPr id="14" name="iconbg-237"/>
          <p:cNvSpPr/>
          <p:nvPr/>
        </p:nvSpPr>
        <p:spPr>
          <a:xfrm>
            <a:off x="4828032" y="1280160"/>
            <a:ext cx="411480" cy="411480"/>
          </a:xfrm>
          <a:prstGeom prst="ellipse">
            <a:avLst/>
          </a:prstGeom>
          <a:solidFill>
            <a:schemeClr val="tx2"/>
          </a:solidFill>
          <a:ln/>
        </p:spPr>
      </p:sp>
      <p:pic>
        <p:nvPicPr>
          <p:cNvPr id="15" name="icon-238" descr="Heart icon">    </p:cNvPr>
          <p:cNvPicPr>
            <a:picLocks noChangeAspect="1"/>
          </p:cNvPicPr>
          <p:nvPr/>
        </p:nvPicPr>
        <p:blipFill>
          <a:blip r:embed="rId3"/>
          <a:stretch>
            <a:fillRect/>
          </a:stretch>
        </p:blipFill>
        <p:spPr>
          <a:xfrm>
            <a:off x="4930902" y="1383030"/>
            <a:ext cx="205740" cy="205740"/>
          </a:xfrm>
          <a:prstGeom prst="rect">
            <a:avLst/>
          </a:prstGeom>
        </p:spPr>
      </p:pic>
      <p:sp>
        <p:nvSpPr>
          <p:cNvPr id="16" name="text-239"/>
          <p:cNvSpPr txBox="1"/>
          <p:nvPr/>
        </p:nvSpPr>
        <p:spPr>
          <a:xfrm>
            <a:off x="4828032" y="1783080"/>
            <a:ext cx="1645920" cy="27432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wishlistSlice</a:t>
            </a:r>
            <a:endParaRPr lang="en-US" sz="1400" dirty="0"/>
          </a:p>
        </p:txBody>
      </p:sp>
      <p:sp>
        <p:nvSpPr>
          <p:cNvPr id="17" name="text-240"/>
          <p:cNvSpPr txBox="1"/>
          <p:nvPr/>
        </p:nvSpPr>
        <p:spPr>
          <a:xfrm>
            <a:off x="4828032" y="2103120"/>
            <a:ext cx="1691640" cy="1188720"/>
          </a:xfrm>
          <a:prstGeom prst="rect">
            <a:avLst/>
          </a:prstGeom>
          <a:noFill/>
          <a:ln/>
        </p:spPr>
        <p:txBody>
          <a:bodyPr wrap="square" lIns="0" tIns="0" rIns="0" bIns="0" rtlCol="0" anchor="t"/>
          <a:lstStyle/>
          <a:p>
            <a:pPr indent="0" marL="0">
              <a:spcAft>
                <a:spcPts val="100"/>
              </a:spcAft>
              <a:buNone/>
            </a:pPr>
            <a:r>
              <a:rPr lang="en-US" sz="1300" dirty="0">
                <a:solidFill>
                  <a:schemeClr val="tx1"/>
                </a:solidFill>
              </a:rPr>
              <a:t>addToWishlist</a:t>
            </a:r>
            <a:endParaRPr lang="en-US" sz="1300" dirty="0"/>
          </a:p>
          <a:p>
            <a:pPr indent="0" marL="0">
              <a:spcAft>
                <a:spcPts val="100"/>
              </a:spcAft>
              <a:buNone/>
            </a:pPr>
            <a:r>
              <a:rPr lang="en-US" sz="1300" dirty="0">
                <a:solidFill>
                  <a:schemeClr val="tx1"/>
                </a:solidFill>
              </a:rPr>
              <a:t>removeFromWishlist</a:t>
            </a:r>
            <a:endParaRPr lang="en-US" sz="1300" dirty="0"/>
          </a:p>
          <a:p>
            <a:pPr indent="0" marL="0">
              <a:spcAft>
                <a:spcPts val="100"/>
              </a:spcAft>
              <a:buNone/>
            </a:pPr>
            <a:r>
              <a:rPr lang="en-US" sz="1300" dirty="0">
                <a:solidFill>
                  <a:schemeClr val="tx1"/>
                </a:solidFill>
              </a:rPr>
              <a:t>clearWishlist</a:t>
            </a:r>
            <a:endParaRPr lang="en-US" sz="1300" dirty="0"/>
          </a:p>
        </p:txBody>
      </p:sp>
      <p:sp>
        <p:nvSpPr>
          <p:cNvPr id="18" name="card-241"/>
          <p:cNvSpPr/>
          <p:nvPr/>
        </p:nvSpPr>
        <p:spPr>
          <a:xfrm>
            <a:off x="6766560" y="1143000"/>
            <a:ext cx="1920240" cy="2194560"/>
          </a:xfrm>
          <a:prstGeom prst="roundRect">
            <a:avLst>
              <a:gd name="adj" fmla="val 4762"/>
            </a:avLst>
          </a:prstGeom>
          <a:solidFill>
            <a:schemeClr val="bg2"/>
          </a:solidFill>
          <a:ln/>
        </p:spPr>
      </p:sp>
      <p:sp>
        <p:nvSpPr>
          <p:cNvPr id="19" name="iconbg-242"/>
          <p:cNvSpPr/>
          <p:nvPr/>
        </p:nvSpPr>
        <p:spPr>
          <a:xfrm>
            <a:off x="6931152" y="1280160"/>
            <a:ext cx="411480" cy="411480"/>
          </a:xfrm>
          <a:prstGeom prst="ellipse">
            <a:avLst/>
          </a:prstGeom>
          <a:solidFill>
            <a:schemeClr val="tx2"/>
          </a:solidFill>
          <a:ln/>
        </p:spPr>
      </p:sp>
      <p:pic>
        <p:nvPicPr>
          <p:cNvPr id="20" name="icon-243" descr="ClipboardList icon">    </p:cNvPr>
          <p:cNvPicPr>
            <a:picLocks noChangeAspect="1"/>
          </p:cNvPicPr>
          <p:nvPr/>
        </p:nvPicPr>
        <p:blipFill>
          <a:blip r:embed="rId4"/>
          <a:stretch>
            <a:fillRect/>
          </a:stretch>
        </p:blipFill>
        <p:spPr>
          <a:xfrm>
            <a:off x="7034022" y="1383030"/>
            <a:ext cx="205740" cy="205740"/>
          </a:xfrm>
          <a:prstGeom prst="rect">
            <a:avLst/>
          </a:prstGeom>
        </p:spPr>
      </p:pic>
      <p:sp>
        <p:nvSpPr>
          <p:cNvPr id="21" name="text-244"/>
          <p:cNvSpPr txBox="1"/>
          <p:nvPr/>
        </p:nvSpPr>
        <p:spPr>
          <a:xfrm>
            <a:off x="6931152" y="1783080"/>
            <a:ext cx="1645920" cy="27432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orderSlice</a:t>
            </a:r>
            <a:endParaRPr lang="en-US" sz="1400" dirty="0"/>
          </a:p>
        </p:txBody>
      </p:sp>
      <p:sp>
        <p:nvSpPr>
          <p:cNvPr id="22" name="text-245"/>
          <p:cNvSpPr txBox="1"/>
          <p:nvPr/>
        </p:nvSpPr>
        <p:spPr>
          <a:xfrm>
            <a:off x="6931152" y="2103120"/>
            <a:ext cx="1691640" cy="1188720"/>
          </a:xfrm>
          <a:prstGeom prst="rect">
            <a:avLst/>
          </a:prstGeom>
          <a:noFill/>
          <a:ln/>
        </p:spPr>
        <p:txBody>
          <a:bodyPr wrap="square" lIns="0" tIns="0" rIns="0" bIns="0" rtlCol="0" anchor="t"/>
          <a:lstStyle/>
          <a:p>
            <a:pPr indent="0" marL="0">
              <a:spcAft>
                <a:spcPts val="100"/>
              </a:spcAft>
              <a:buNone/>
            </a:pPr>
            <a:r>
              <a:rPr lang="en-US" sz="1300" dirty="0">
                <a:solidFill>
                  <a:schemeClr val="tx1"/>
                </a:solidFill>
              </a:rPr>
              <a:t>addOrder</a:t>
            </a:r>
            <a:endParaRPr lang="en-US" sz="1300" dirty="0"/>
          </a:p>
          <a:p>
            <a:pPr indent="0" marL="0">
              <a:spcAft>
                <a:spcPts val="100"/>
              </a:spcAft>
              <a:buNone/>
            </a:pPr>
            <a:r>
              <a:rPr lang="en-US" sz="1300" dirty="0">
                <a:solidFill>
                  <a:schemeClr val="tx1"/>
                </a:solidFill>
              </a:rPr>
              <a:t>updateOrderStatus</a:t>
            </a:r>
            <a:endParaRPr lang="en-US" sz="1300" dirty="0"/>
          </a:p>
          <a:p>
            <a:pPr indent="0" marL="0">
              <a:spcAft>
                <a:spcPts val="100"/>
              </a:spcAft>
              <a:buNone/>
            </a:pPr>
            <a:r>
              <a:rPr lang="en-US" sz="1300" dirty="0">
                <a:solidFill>
                  <a:schemeClr val="tx1"/>
                </a:solidFill>
              </a:rPr>
              <a:t>updatePaymentStatus</a:t>
            </a:r>
            <a:endParaRPr lang="en-US" sz="1300" dirty="0"/>
          </a:p>
          <a:p>
            <a:pPr indent="0" marL="0">
              <a:spcAft>
                <a:spcPts val="100"/>
              </a:spcAft>
              <a:buNone/>
            </a:pPr>
            <a:r>
              <a:rPr lang="en-US" sz="1300" dirty="0">
                <a:solidFill>
                  <a:schemeClr val="tx1"/>
                </a:solidFill>
              </a:rPr>
              <a:t>deleteOrder</a:t>
            </a:r>
            <a:endParaRPr lang="en-US" sz="1300" dirty="0"/>
          </a:p>
        </p:txBody>
      </p:sp>
      <p:sp>
        <p:nvSpPr>
          <p:cNvPr id="23" name="card-246"/>
          <p:cNvSpPr/>
          <p:nvPr/>
        </p:nvSpPr>
        <p:spPr>
          <a:xfrm>
            <a:off x="457200" y="3520440"/>
            <a:ext cx="4023360" cy="1097280"/>
          </a:xfrm>
          <a:prstGeom prst="roundRect">
            <a:avLst>
              <a:gd name="adj" fmla="val 8333"/>
            </a:avLst>
          </a:prstGeom>
          <a:solidFill>
            <a:schemeClr val="tx2"/>
          </a:solidFill>
          <a:ln/>
        </p:spPr>
      </p:sp>
      <p:sp>
        <p:nvSpPr>
          <p:cNvPr id="24" name="text-247"/>
          <p:cNvSpPr txBox="1"/>
          <p:nvPr/>
        </p:nvSpPr>
        <p:spPr>
          <a:xfrm>
            <a:off x="640080" y="3611880"/>
            <a:ext cx="365760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CONTEXT API</a:t>
            </a:r>
            <a:endParaRPr lang="en-US" sz="1200" dirty="0"/>
          </a:p>
        </p:txBody>
      </p:sp>
      <p:sp>
        <p:nvSpPr>
          <p:cNvPr id="25" name="text-248"/>
          <p:cNvSpPr txBox="1"/>
          <p:nvPr/>
        </p:nvSpPr>
        <p:spPr>
          <a:xfrm>
            <a:off x="640080" y="3886200"/>
            <a:ext cx="3657600" cy="685800"/>
          </a:xfrm>
          <a:prstGeom prst="rect">
            <a:avLst/>
          </a:prstGeom>
          <a:noFill/>
          <a:ln/>
        </p:spPr>
        <p:txBody>
          <a:bodyPr wrap="square" lIns="0" tIns="0" rIns="0" bIns="0" rtlCol="0" anchor="t"/>
          <a:lstStyle/>
          <a:p>
            <a:pPr indent="0" marL="0">
              <a:buNone/>
            </a:pPr>
            <a:r>
              <a:rPr lang="en-US" sz="1400" dirty="0">
                <a:solidFill>
                  <a:schemeClr val="bg1"/>
                </a:solidFill>
              </a:rPr>
              <a:t>AuthContext: loginUser, registerUser, logoutUser, updateUser; session kept in localStorage</a:t>
            </a:r>
            <a:endParaRPr lang="en-US" sz="1400" dirty="0"/>
          </a:p>
        </p:txBody>
      </p:sp>
      <p:sp>
        <p:nvSpPr>
          <p:cNvPr id="26" name="card-249"/>
          <p:cNvSpPr/>
          <p:nvPr/>
        </p:nvSpPr>
        <p:spPr>
          <a:xfrm>
            <a:off x="4663440" y="3520440"/>
            <a:ext cx="4023360" cy="1097280"/>
          </a:xfrm>
          <a:prstGeom prst="roundRect">
            <a:avLst>
              <a:gd name="adj" fmla="val 8333"/>
            </a:avLst>
          </a:prstGeom>
          <a:solidFill>
            <a:schemeClr val="bg2"/>
          </a:solidFill>
          <a:ln/>
        </p:spPr>
      </p:sp>
      <p:sp>
        <p:nvSpPr>
          <p:cNvPr id="27" name="text-250"/>
          <p:cNvSpPr txBox="1"/>
          <p:nvPr/>
        </p:nvSpPr>
        <p:spPr>
          <a:xfrm>
            <a:off x="4846320" y="3611880"/>
            <a:ext cx="3657600" cy="256032"/>
          </a:xfrm>
          <a:prstGeom prst="rect">
            <a:avLst/>
          </a:prstGeom>
          <a:noFill/>
          <a:ln/>
        </p:spPr>
        <p:txBody>
          <a:bodyPr wrap="square" lIns="0" tIns="0" rIns="0" bIns="0" rtlCol="0" anchor="t"/>
          <a:lstStyle/>
          <a:p>
            <a:pPr indent="0" marL="0">
              <a:buNone/>
            </a:pPr>
            <a:r>
              <a:rPr lang="en-US" sz="1200" b="1" spc="200" kern="0" dirty="0">
                <a:solidFill>
                  <a:schemeClr val="accent6"/>
                </a:solidFill>
              </a:rPr>
              <a:t>PERSISTENCE RULES</a:t>
            </a:r>
            <a:endParaRPr lang="en-US" sz="1200" dirty="0"/>
          </a:p>
        </p:txBody>
      </p:sp>
      <p:sp>
        <p:nvSpPr>
          <p:cNvPr id="28" name="text-251"/>
          <p:cNvSpPr txBox="1"/>
          <p:nvPr/>
        </p:nvSpPr>
        <p:spPr>
          <a:xfrm>
            <a:off x="4846320" y="3886200"/>
            <a:ext cx="3657600" cy="685800"/>
          </a:xfrm>
          <a:prstGeom prst="rect">
            <a:avLst/>
          </a:prstGeom>
          <a:noFill/>
          <a:ln/>
        </p:spPr>
        <p:txBody>
          <a:bodyPr wrap="square" lIns="0" tIns="0" rIns="0" bIns="0" rtlCol="0" anchor="t"/>
          <a:lstStyle/>
          <a:p>
            <a:pPr indent="0" marL="0">
              <a:buNone/>
            </a:pPr>
            <a:r>
              <a:rPr lang="en-US" sz="1400" dirty="0">
                <a:solidFill>
                  <a:schemeClr val="tx1"/>
                </a:solidFill>
              </a:rPr>
              <a:t>Cart and wishlist are saved per customer, so each account keeps its own items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Checkout and orders</a:t>
            </a:r>
            <a:endParaRPr lang="en-US" sz="3400" dirty="0"/>
          </a:p>
        </p:txBody>
      </p:sp>
      <p:sp>
        <p:nvSpPr>
          <p:cNvPr id="3" name="card-252"/>
          <p:cNvSpPr/>
          <p:nvPr/>
        </p:nvSpPr>
        <p:spPr>
          <a:xfrm>
            <a:off x="457200" y="1143000"/>
            <a:ext cx="4023360" cy="2788920"/>
          </a:xfrm>
          <a:prstGeom prst="roundRect">
            <a:avLst>
              <a:gd name="adj" fmla="val 3279"/>
            </a:avLst>
          </a:prstGeom>
          <a:solidFill>
            <a:schemeClr val="bg2"/>
          </a:solidFill>
          <a:ln/>
        </p:spPr>
      </p:sp>
      <p:sp>
        <p:nvSpPr>
          <p:cNvPr id="4" name="text-253"/>
          <p:cNvSpPr txBox="1"/>
          <p:nvPr/>
        </p:nvSpPr>
        <p:spPr>
          <a:xfrm>
            <a:off x="640080" y="1261872"/>
            <a:ext cx="365760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Checked before an order is placed</a:t>
            </a:r>
            <a:endParaRPr lang="en-US" sz="1600" dirty="0"/>
          </a:p>
        </p:txBody>
      </p:sp>
      <p:pic>
        <p:nvPicPr>
          <p:cNvPr id="5" name="icon-254" descr="check">    </p:cNvPr>
          <p:cNvPicPr>
            <a:picLocks noChangeAspect="1"/>
          </p:cNvPicPr>
          <p:nvPr/>
        </p:nvPicPr>
        <p:blipFill>
          <a:blip r:embed="rId1"/>
          <a:stretch>
            <a:fillRect/>
          </a:stretch>
        </p:blipFill>
        <p:spPr>
          <a:xfrm>
            <a:off x="640080" y="1719072"/>
            <a:ext cx="237744" cy="237744"/>
          </a:xfrm>
          <a:prstGeom prst="rect">
            <a:avLst/>
          </a:prstGeom>
        </p:spPr>
      </p:pic>
      <p:sp>
        <p:nvSpPr>
          <p:cNvPr id="6" name="text-255"/>
          <p:cNvSpPr txBox="1"/>
          <p:nvPr/>
        </p:nvSpPr>
        <p:spPr>
          <a:xfrm>
            <a:off x="1005840" y="1691640"/>
            <a:ext cx="3383280" cy="301752"/>
          </a:xfrm>
          <a:prstGeom prst="rect">
            <a:avLst/>
          </a:prstGeom>
          <a:noFill/>
          <a:ln/>
        </p:spPr>
        <p:txBody>
          <a:bodyPr wrap="square" lIns="0" tIns="0" rIns="0" bIns="0" rtlCol="0" anchor="ctr"/>
          <a:lstStyle/>
          <a:p>
            <a:pPr indent="0" marL="0">
              <a:buNone/>
            </a:pPr>
            <a:r>
              <a:rPr lang="en-US" sz="1400" dirty="0">
                <a:solidFill>
                  <a:schemeClr val="tx1"/>
                </a:solidFill>
              </a:rPr>
              <a:t>Cart is not empty</a:t>
            </a:r>
            <a:endParaRPr lang="en-US" sz="1400" dirty="0"/>
          </a:p>
        </p:txBody>
      </p:sp>
      <p:pic>
        <p:nvPicPr>
          <p:cNvPr id="7" name="icon-256" descr="check">    </p:cNvPr>
          <p:cNvPicPr>
            <a:picLocks noChangeAspect="1"/>
          </p:cNvPicPr>
          <p:nvPr/>
        </p:nvPicPr>
        <p:blipFill>
          <a:blip r:embed="rId2"/>
          <a:stretch>
            <a:fillRect/>
          </a:stretch>
        </p:blipFill>
        <p:spPr>
          <a:xfrm>
            <a:off x="640080" y="2148840"/>
            <a:ext cx="237744" cy="237744"/>
          </a:xfrm>
          <a:prstGeom prst="rect">
            <a:avLst/>
          </a:prstGeom>
        </p:spPr>
      </p:pic>
      <p:sp>
        <p:nvSpPr>
          <p:cNvPr id="8" name="text-257"/>
          <p:cNvSpPr txBox="1"/>
          <p:nvPr/>
        </p:nvSpPr>
        <p:spPr>
          <a:xfrm>
            <a:off x="1005840" y="2121408"/>
            <a:ext cx="3383280" cy="301752"/>
          </a:xfrm>
          <a:prstGeom prst="rect">
            <a:avLst/>
          </a:prstGeom>
          <a:noFill/>
          <a:ln/>
        </p:spPr>
        <p:txBody>
          <a:bodyPr wrap="square" lIns="0" tIns="0" rIns="0" bIns="0" rtlCol="0" anchor="ctr"/>
          <a:lstStyle/>
          <a:p>
            <a:pPr indent="0" marL="0">
              <a:buNone/>
            </a:pPr>
            <a:r>
              <a:rPr lang="en-US" sz="1400" dirty="0">
                <a:solidFill>
                  <a:schemeClr val="tx1"/>
                </a:solidFill>
              </a:rPr>
              <a:t>All seven delivery fields are filled</a:t>
            </a:r>
            <a:endParaRPr lang="en-US" sz="1400" dirty="0"/>
          </a:p>
        </p:txBody>
      </p:sp>
      <p:pic>
        <p:nvPicPr>
          <p:cNvPr id="9" name="icon-258" descr="check">    </p:cNvPr>
          <p:cNvPicPr>
            <a:picLocks noChangeAspect="1"/>
          </p:cNvPicPr>
          <p:nvPr/>
        </p:nvPicPr>
        <p:blipFill>
          <a:blip r:embed="rId3"/>
          <a:stretch>
            <a:fillRect/>
          </a:stretch>
        </p:blipFill>
        <p:spPr>
          <a:xfrm>
            <a:off x="640080" y="2578608"/>
            <a:ext cx="237744" cy="237744"/>
          </a:xfrm>
          <a:prstGeom prst="rect">
            <a:avLst/>
          </a:prstGeom>
        </p:spPr>
      </p:pic>
      <p:sp>
        <p:nvSpPr>
          <p:cNvPr id="10" name="text-259"/>
          <p:cNvSpPr txBox="1"/>
          <p:nvPr/>
        </p:nvSpPr>
        <p:spPr>
          <a:xfrm>
            <a:off x="1005840" y="2551176"/>
            <a:ext cx="3383280" cy="301752"/>
          </a:xfrm>
          <a:prstGeom prst="rect">
            <a:avLst/>
          </a:prstGeom>
          <a:noFill/>
          <a:ln/>
        </p:spPr>
        <p:txBody>
          <a:bodyPr wrap="square" lIns="0" tIns="0" rIns="0" bIns="0" rtlCol="0" anchor="ctr"/>
          <a:lstStyle/>
          <a:p>
            <a:pPr indent="0" marL="0">
              <a:buNone/>
            </a:pPr>
            <a:r>
              <a:rPr lang="en-US" sz="1400" dirty="0">
                <a:solidFill>
                  <a:schemeClr val="tx1"/>
                </a:solidFill>
              </a:rPr>
              <a:t>Mobile: 10 digits, starting 6–9</a:t>
            </a:r>
            <a:endParaRPr lang="en-US" sz="1400" dirty="0"/>
          </a:p>
        </p:txBody>
      </p:sp>
      <p:pic>
        <p:nvPicPr>
          <p:cNvPr id="11" name="icon-260" descr="check">    </p:cNvPr>
          <p:cNvPicPr>
            <a:picLocks noChangeAspect="1"/>
          </p:cNvPicPr>
          <p:nvPr/>
        </p:nvPicPr>
        <p:blipFill>
          <a:blip r:embed="rId4"/>
          <a:stretch>
            <a:fillRect/>
          </a:stretch>
        </p:blipFill>
        <p:spPr>
          <a:xfrm>
            <a:off x="640080" y="3008376"/>
            <a:ext cx="237744" cy="237744"/>
          </a:xfrm>
          <a:prstGeom prst="rect">
            <a:avLst/>
          </a:prstGeom>
        </p:spPr>
      </p:pic>
      <p:sp>
        <p:nvSpPr>
          <p:cNvPr id="12" name="text-261"/>
          <p:cNvSpPr txBox="1"/>
          <p:nvPr/>
        </p:nvSpPr>
        <p:spPr>
          <a:xfrm>
            <a:off x="1005840" y="2980944"/>
            <a:ext cx="3383280" cy="301752"/>
          </a:xfrm>
          <a:prstGeom prst="rect">
            <a:avLst/>
          </a:prstGeom>
          <a:noFill/>
          <a:ln/>
        </p:spPr>
        <p:txBody>
          <a:bodyPr wrap="square" lIns="0" tIns="0" rIns="0" bIns="0" rtlCol="0" anchor="ctr"/>
          <a:lstStyle/>
          <a:p>
            <a:pPr indent="0" marL="0">
              <a:buNone/>
            </a:pPr>
            <a:r>
              <a:rPr lang="en-US" sz="1400" dirty="0">
                <a:solidFill>
                  <a:schemeClr val="tx1"/>
                </a:solidFill>
              </a:rPr>
              <a:t>Valid e-mail address</a:t>
            </a:r>
            <a:endParaRPr lang="en-US" sz="1400" dirty="0"/>
          </a:p>
        </p:txBody>
      </p:sp>
      <p:pic>
        <p:nvPicPr>
          <p:cNvPr id="13" name="icon-262" descr="check">    </p:cNvPr>
          <p:cNvPicPr>
            <a:picLocks noChangeAspect="1"/>
          </p:cNvPicPr>
          <p:nvPr/>
        </p:nvPicPr>
        <p:blipFill>
          <a:blip r:embed="rId5"/>
          <a:stretch>
            <a:fillRect/>
          </a:stretch>
        </p:blipFill>
        <p:spPr>
          <a:xfrm>
            <a:off x="640080" y="3438144"/>
            <a:ext cx="237744" cy="237744"/>
          </a:xfrm>
          <a:prstGeom prst="rect">
            <a:avLst/>
          </a:prstGeom>
        </p:spPr>
      </p:pic>
      <p:sp>
        <p:nvSpPr>
          <p:cNvPr id="14" name="text-263"/>
          <p:cNvSpPr txBox="1"/>
          <p:nvPr/>
        </p:nvSpPr>
        <p:spPr>
          <a:xfrm>
            <a:off x="1005840" y="3410712"/>
            <a:ext cx="3383280" cy="301752"/>
          </a:xfrm>
          <a:prstGeom prst="rect">
            <a:avLst/>
          </a:prstGeom>
          <a:noFill/>
          <a:ln/>
        </p:spPr>
        <p:txBody>
          <a:bodyPr wrap="square" lIns="0" tIns="0" rIns="0" bIns="0" rtlCol="0" anchor="ctr"/>
          <a:lstStyle/>
          <a:p>
            <a:pPr indent="0" marL="0">
              <a:buNone/>
            </a:pPr>
            <a:r>
              <a:rPr lang="en-US" sz="1400" dirty="0">
                <a:solidFill>
                  <a:schemeClr val="tx1"/>
                </a:solidFill>
              </a:rPr>
              <a:t>PIN code: exactly 6 digits</a:t>
            </a:r>
            <a:endParaRPr lang="en-US" sz="1400" dirty="0"/>
          </a:p>
        </p:txBody>
      </p:sp>
      <p:sp>
        <p:nvSpPr>
          <p:cNvPr id="15" name="card-264"/>
          <p:cNvSpPr/>
          <p:nvPr/>
        </p:nvSpPr>
        <p:spPr>
          <a:xfrm>
            <a:off x="4663440" y="1143000"/>
            <a:ext cx="4023360" cy="2788920"/>
          </a:xfrm>
          <a:prstGeom prst="roundRect">
            <a:avLst>
              <a:gd name="adj" fmla="val 3279"/>
            </a:avLst>
          </a:prstGeom>
          <a:solidFill>
            <a:schemeClr val="tx2"/>
          </a:solidFill>
          <a:ln/>
        </p:spPr>
      </p:sp>
      <p:sp>
        <p:nvSpPr>
          <p:cNvPr id="16" name="text-265"/>
          <p:cNvSpPr txBox="1"/>
          <p:nvPr/>
        </p:nvSpPr>
        <p:spPr>
          <a:xfrm>
            <a:off x="4846320" y="1261872"/>
            <a:ext cx="3657600" cy="32004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Order record</a:t>
            </a:r>
            <a:endParaRPr lang="en-US" sz="1600" dirty="0"/>
          </a:p>
        </p:txBody>
      </p:sp>
      <p:sp>
        <p:nvSpPr>
          <p:cNvPr id="17" name="text-266"/>
          <p:cNvSpPr txBox="1"/>
          <p:nvPr/>
        </p:nvSpPr>
        <p:spPr>
          <a:xfrm>
            <a:off x="4846320" y="1691640"/>
            <a:ext cx="3703320" cy="2103120"/>
          </a:xfrm>
          <a:prstGeom prst="rect">
            <a:avLst/>
          </a:prstGeom>
          <a:noFill/>
          <a:ln/>
        </p:spPr>
        <p:txBody>
          <a:bodyPr wrap="square" lIns="0" tIns="0" rIns="0" bIns="0" rtlCol="0" anchor="t"/>
          <a:lstStyle/>
          <a:p>
            <a:pPr indent="0" marL="0">
              <a:spcAft>
                <a:spcPts val="300"/>
              </a:spcAft>
              <a:buNone/>
            </a:pPr>
            <a:r>
              <a:rPr lang="en-US" sz="1300" dirty="0">
                <a:solidFill>
                  <a:schemeClr val="bg1"/>
                </a:solidFill>
                <a:latin typeface="Courier New" pitchFamily="34" charset="0"/>
                <a:ea typeface="Courier New" pitchFamily="34" charset="-122"/>
                <a:cs typeface="Courier New" pitchFamily="34" charset="-120"/>
              </a:rPr>
              <a:t>id: ORD-&lt;timestamp&gt;</a:t>
            </a:r>
            <a:endParaRPr lang="en-US" sz="1300" dirty="0"/>
          </a:p>
          <a:p>
            <a:pPr indent="0" marL="0">
              <a:spcAft>
                <a:spcPts val="300"/>
              </a:spcAft>
              <a:buNone/>
            </a:pPr>
            <a:r>
              <a:rPr lang="en-US" sz="1300" dirty="0">
                <a:solidFill>
                  <a:schemeClr val="bg1"/>
                </a:solidFill>
                <a:latin typeface="Courier New" pitchFamily="34" charset="0"/>
                <a:ea typeface="Courier New" pitchFamily="34" charset="-122"/>
                <a:cs typeface="Courier New" pitchFamily="34" charset="-120"/>
              </a:rPr>
              <a:t>userId, customerName, phone, email</a:t>
            </a:r>
            <a:endParaRPr lang="en-US" sz="1300" dirty="0"/>
          </a:p>
          <a:p>
            <a:pPr indent="0" marL="0">
              <a:spcAft>
                <a:spcPts val="300"/>
              </a:spcAft>
              <a:buNone/>
            </a:pPr>
            <a:r>
              <a:rPr lang="en-US" sz="1300" dirty="0">
                <a:solidFill>
                  <a:schemeClr val="bg1"/>
                </a:solidFill>
                <a:latin typeface="Courier New" pitchFamily="34" charset="0"/>
                <a:ea typeface="Courier New" pitchFamily="34" charset="-122"/>
                <a:cs typeface="Courier New" pitchFamily="34" charset="-120"/>
              </a:rPr>
              <a:t>address, city, state, pincode</a:t>
            </a:r>
            <a:endParaRPr lang="en-US" sz="1300" dirty="0"/>
          </a:p>
          <a:p>
            <a:pPr indent="0" marL="0">
              <a:spcAft>
                <a:spcPts val="300"/>
              </a:spcAft>
              <a:buNone/>
            </a:pPr>
            <a:r>
              <a:rPr lang="en-US" sz="1300" dirty="0">
                <a:solidFill>
                  <a:schemeClr val="bg1"/>
                </a:solidFill>
                <a:latin typeface="Courier New" pitchFamily="34" charset="0"/>
                <a:ea typeface="Courier New" pitchFamily="34" charset="-122"/>
                <a:cs typeface="Courier New" pitchFamily="34" charset="-120"/>
              </a:rPr>
              <a:t>items[] and total</a:t>
            </a:r>
            <a:endParaRPr lang="en-US" sz="1300" dirty="0"/>
          </a:p>
          <a:p>
            <a:pPr indent="0" marL="0">
              <a:spcAft>
                <a:spcPts val="300"/>
              </a:spcAft>
              <a:buNone/>
            </a:pPr>
            <a:r>
              <a:rPr lang="en-US" sz="1300" dirty="0">
                <a:solidFill>
                  <a:schemeClr val="bg1"/>
                </a:solidFill>
                <a:latin typeface="Courier New" pitchFamily="34" charset="0"/>
                <a:ea typeface="Courier New" pitchFamily="34" charset="-122"/>
                <a:cs typeface="Courier New" pitchFamily="34" charset="-120"/>
              </a:rPr>
              <a:t>paymentMethod: Cash on Delivery | UPI</a:t>
            </a:r>
            <a:endParaRPr lang="en-US" sz="1300" dirty="0"/>
          </a:p>
          <a:p>
            <a:pPr indent="0" marL="0">
              <a:spcAft>
                <a:spcPts val="300"/>
              </a:spcAft>
              <a:buNone/>
            </a:pPr>
            <a:r>
              <a:rPr lang="en-US" sz="1300" dirty="0">
                <a:solidFill>
                  <a:schemeClr val="bg1"/>
                </a:solidFill>
                <a:latin typeface="Courier New" pitchFamily="34" charset="0"/>
                <a:ea typeface="Courier New" pitchFamily="34" charset="-122"/>
                <a:cs typeface="Courier New" pitchFamily="34" charset="-120"/>
              </a:rPr>
              <a:t>paymentStatus: Pending</a:t>
            </a:r>
            <a:endParaRPr lang="en-US" sz="1300" dirty="0"/>
          </a:p>
          <a:p>
            <a:pPr indent="0" marL="0">
              <a:spcAft>
                <a:spcPts val="300"/>
              </a:spcAft>
              <a:buNone/>
            </a:pPr>
            <a:r>
              <a:rPr lang="en-US" sz="1300" dirty="0">
                <a:solidFill>
                  <a:schemeClr val="bg1"/>
                </a:solidFill>
                <a:latin typeface="Courier New" pitchFamily="34" charset="0"/>
                <a:ea typeface="Courier New" pitchFamily="34" charset="-122"/>
                <a:cs typeface="Courier New" pitchFamily="34" charset="-120"/>
              </a:rPr>
              <a:t>status: Placed</a:t>
            </a:r>
            <a:endParaRPr lang="en-US" sz="1300" dirty="0"/>
          </a:p>
          <a:p>
            <a:pPr indent="0" marL="0">
              <a:spcAft>
                <a:spcPts val="300"/>
              </a:spcAft>
              <a:buNone/>
            </a:pPr>
            <a:r>
              <a:rPr lang="en-US" sz="1300" dirty="0">
                <a:solidFill>
                  <a:schemeClr val="bg1"/>
                </a:solidFill>
                <a:latin typeface="Courier New" pitchFamily="34" charset="0"/>
                <a:ea typeface="Courier New" pitchFamily="34" charset="-122"/>
                <a:cs typeface="Courier New" pitchFamily="34" charset="-120"/>
              </a:rPr>
              <a:t>createdAt: ISO date-time</a:t>
            </a:r>
            <a:endParaRPr lang="en-US" sz="1300" dirty="0"/>
          </a:p>
        </p:txBody>
      </p:sp>
      <p:sp>
        <p:nvSpPr>
          <p:cNvPr id="18" name="text-267"/>
          <p:cNvSpPr txBox="1"/>
          <p:nvPr/>
        </p:nvSpPr>
        <p:spPr>
          <a:xfrm>
            <a:off x="457200" y="4160520"/>
            <a:ext cx="1737360" cy="365760"/>
          </a:xfrm>
          <a:prstGeom prst="rect">
            <a:avLst/>
          </a:prstGeom>
          <a:noFill/>
          <a:ln/>
        </p:spPr>
        <p:txBody>
          <a:bodyPr wrap="square" lIns="0" tIns="0" rIns="0" bIns="0" rtlCol="0" anchor="ctr"/>
          <a:lstStyle/>
          <a:p>
            <a:pPr indent="0" marL="0">
              <a:buNone/>
            </a:pPr>
            <a:r>
              <a:rPr lang="en-US" sz="1400" b="1" dirty="0">
                <a:solidFill>
                  <a:schemeClr val="tx1"/>
                </a:solidFill>
              </a:rPr>
              <a:t>Admin-set status</a:t>
            </a:r>
            <a:endParaRPr lang="en-US" sz="1400" dirty="0"/>
          </a:p>
        </p:txBody>
      </p:sp>
      <p:sp>
        <p:nvSpPr>
          <p:cNvPr id="19" name="pill-268"/>
          <p:cNvSpPr txBox="1"/>
          <p:nvPr/>
        </p:nvSpPr>
        <p:spPr>
          <a:xfrm>
            <a:off x="2240280" y="4160520"/>
            <a:ext cx="1005840" cy="365760"/>
          </a:xfrm>
          <a:prstGeom prst="roundRect">
            <a:avLst>
              <a:gd name="adj" fmla="val 37500"/>
            </a:avLst>
          </a:prstGeom>
          <a:solidFill>
            <a:schemeClr val="accent2"/>
          </a:solidFill>
          <a:ln/>
        </p:spPr>
        <p:txBody>
          <a:bodyPr wrap="square" lIns="0" tIns="0" rIns="0" bIns="0" rtlCol="0" anchor="ctr"/>
          <a:lstStyle/>
          <a:p>
            <a:pPr algn="ctr" indent="0" marL="0">
              <a:buNone/>
            </a:pPr>
            <a:r>
              <a:rPr lang="en-US" sz="1300" b="1" dirty="0">
                <a:solidFill>
                  <a:schemeClr val="bg1"/>
                </a:solidFill>
              </a:rPr>
              <a:t>Pending</a:t>
            </a:r>
            <a:endParaRPr lang="en-US" sz="1300" dirty="0"/>
          </a:p>
        </p:txBody>
      </p:sp>
      <p:sp>
        <p:nvSpPr>
          <p:cNvPr id="20" name="arrow-269"/>
          <p:cNvSpPr/>
          <p:nvPr/>
        </p:nvSpPr>
        <p:spPr>
          <a:xfrm>
            <a:off x="3264408" y="4343400"/>
            <a:ext cx="192024" cy="0"/>
          </a:xfrm>
          <a:prstGeom prst="line">
            <a:avLst/>
          </a:prstGeom>
          <a:noFill/>
          <a:ln w="25400">
            <a:solidFill>
              <a:schemeClr val="accent3"/>
            </a:solidFill>
            <a:prstDash val="solid"/>
            <a:tailEnd type="triangle"/>
          </a:ln>
        </p:spPr>
      </p:sp>
      <p:sp>
        <p:nvSpPr>
          <p:cNvPr id="21" name="pill-270"/>
          <p:cNvSpPr txBox="1"/>
          <p:nvPr/>
        </p:nvSpPr>
        <p:spPr>
          <a:xfrm>
            <a:off x="3474720" y="4160520"/>
            <a:ext cx="1005840" cy="365760"/>
          </a:xfrm>
          <a:prstGeom prst="roundRect">
            <a:avLst>
              <a:gd name="adj" fmla="val 37500"/>
            </a:avLst>
          </a:prstGeom>
          <a:solidFill>
            <a:schemeClr val="accent2"/>
          </a:solidFill>
          <a:ln/>
        </p:spPr>
        <p:txBody>
          <a:bodyPr wrap="square" lIns="0" tIns="0" rIns="0" bIns="0" rtlCol="0" anchor="ctr"/>
          <a:lstStyle/>
          <a:p>
            <a:pPr algn="ctr" indent="0" marL="0">
              <a:buNone/>
            </a:pPr>
            <a:r>
              <a:rPr lang="en-US" sz="1300" b="1" dirty="0">
                <a:solidFill>
                  <a:schemeClr val="bg1"/>
                </a:solidFill>
              </a:rPr>
              <a:t>Processing</a:t>
            </a:r>
            <a:endParaRPr lang="en-US" sz="1300" dirty="0"/>
          </a:p>
        </p:txBody>
      </p:sp>
      <p:sp>
        <p:nvSpPr>
          <p:cNvPr id="22" name="arrow-271"/>
          <p:cNvSpPr/>
          <p:nvPr/>
        </p:nvSpPr>
        <p:spPr>
          <a:xfrm>
            <a:off x="4498848" y="4343400"/>
            <a:ext cx="192024" cy="0"/>
          </a:xfrm>
          <a:prstGeom prst="line">
            <a:avLst/>
          </a:prstGeom>
          <a:noFill/>
          <a:ln w="25400">
            <a:solidFill>
              <a:schemeClr val="accent3"/>
            </a:solidFill>
            <a:prstDash val="solid"/>
            <a:tailEnd type="triangle"/>
          </a:ln>
        </p:spPr>
      </p:sp>
      <p:sp>
        <p:nvSpPr>
          <p:cNvPr id="23" name="pill-272"/>
          <p:cNvSpPr txBox="1"/>
          <p:nvPr/>
        </p:nvSpPr>
        <p:spPr>
          <a:xfrm>
            <a:off x="4709160" y="4160520"/>
            <a:ext cx="1005840" cy="365760"/>
          </a:xfrm>
          <a:prstGeom prst="roundRect">
            <a:avLst>
              <a:gd name="adj" fmla="val 37500"/>
            </a:avLst>
          </a:prstGeom>
          <a:solidFill>
            <a:schemeClr val="accent2"/>
          </a:solidFill>
          <a:ln/>
        </p:spPr>
        <p:txBody>
          <a:bodyPr wrap="square" lIns="0" tIns="0" rIns="0" bIns="0" rtlCol="0" anchor="ctr"/>
          <a:lstStyle/>
          <a:p>
            <a:pPr algn="ctr" indent="0" marL="0">
              <a:buNone/>
            </a:pPr>
            <a:r>
              <a:rPr lang="en-US" sz="1300" b="1" dirty="0">
                <a:solidFill>
                  <a:schemeClr val="bg1"/>
                </a:solidFill>
              </a:rPr>
              <a:t>Shipped</a:t>
            </a:r>
            <a:endParaRPr lang="en-US" sz="1300" dirty="0"/>
          </a:p>
        </p:txBody>
      </p:sp>
      <p:sp>
        <p:nvSpPr>
          <p:cNvPr id="24" name="arrow-273"/>
          <p:cNvSpPr/>
          <p:nvPr/>
        </p:nvSpPr>
        <p:spPr>
          <a:xfrm>
            <a:off x="5733288" y="4343400"/>
            <a:ext cx="192024" cy="0"/>
          </a:xfrm>
          <a:prstGeom prst="line">
            <a:avLst/>
          </a:prstGeom>
          <a:noFill/>
          <a:ln w="25400">
            <a:solidFill>
              <a:schemeClr val="accent3"/>
            </a:solidFill>
            <a:prstDash val="solid"/>
            <a:tailEnd type="triangle"/>
          </a:ln>
        </p:spPr>
      </p:sp>
      <p:sp>
        <p:nvSpPr>
          <p:cNvPr id="25" name="pill-274"/>
          <p:cNvSpPr txBox="1"/>
          <p:nvPr/>
        </p:nvSpPr>
        <p:spPr>
          <a:xfrm>
            <a:off x="5943600" y="4160520"/>
            <a:ext cx="1005840" cy="365760"/>
          </a:xfrm>
          <a:prstGeom prst="roundRect">
            <a:avLst>
              <a:gd name="adj" fmla="val 37500"/>
            </a:avLst>
          </a:prstGeom>
          <a:solidFill>
            <a:schemeClr val="accent2"/>
          </a:solidFill>
          <a:ln/>
        </p:spPr>
        <p:txBody>
          <a:bodyPr wrap="square" lIns="0" tIns="0" rIns="0" bIns="0" rtlCol="0" anchor="ctr"/>
          <a:lstStyle/>
          <a:p>
            <a:pPr algn="ctr" indent="0" marL="0">
              <a:buNone/>
            </a:pPr>
            <a:r>
              <a:rPr lang="en-US" sz="1300" b="1" dirty="0">
                <a:solidFill>
                  <a:schemeClr val="bg1"/>
                </a:solidFill>
              </a:rPr>
              <a:t>Delivered</a:t>
            </a:r>
            <a:endParaRPr lang="en-US" sz="1300" dirty="0"/>
          </a:p>
        </p:txBody>
      </p:sp>
      <p:sp>
        <p:nvSpPr>
          <p:cNvPr id="26" name="pill-275"/>
          <p:cNvSpPr txBox="1"/>
          <p:nvPr/>
        </p:nvSpPr>
        <p:spPr>
          <a:xfrm>
            <a:off x="7360920" y="4160520"/>
            <a:ext cx="1005840" cy="365760"/>
          </a:xfrm>
          <a:prstGeom prst="roundRect">
            <a:avLst>
              <a:gd name="adj" fmla="val 37500"/>
            </a:avLst>
          </a:prstGeom>
          <a:solidFill>
            <a:schemeClr val="accent5"/>
          </a:solidFill>
          <a:ln/>
        </p:spPr>
        <p:txBody>
          <a:bodyPr wrap="square" lIns="0" tIns="0" rIns="0" bIns="0" rtlCol="0" anchor="ctr"/>
          <a:lstStyle/>
          <a:p>
            <a:pPr algn="ctr" indent="0" marL="0">
              <a:buNone/>
            </a:pPr>
            <a:r>
              <a:rPr lang="en-US" sz="1300" b="1" dirty="0">
                <a:solidFill>
                  <a:schemeClr val="bg1"/>
                </a:solidFill>
              </a:rPr>
              <a:t>Cancelled</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The admin panel</a:t>
            </a:r>
            <a:endParaRPr lang="en-US" sz="3400" dirty="0"/>
          </a:p>
        </p:txBody>
      </p:sp>
      <p:sp>
        <p:nvSpPr>
          <p:cNvPr id="3" name="card-276"/>
          <p:cNvSpPr/>
          <p:nvPr/>
        </p:nvSpPr>
        <p:spPr>
          <a:xfrm>
            <a:off x="457200" y="1188720"/>
            <a:ext cx="4023360" cy="1554480"/>
          </a:xfrm>
          <a:prstGeom prst="roundRect">
            <a:avLst>
              <a:gd name="adj" fmla="val 5882"/>
            </a:avLst>
          </a:prstGeom>
          <a:solidFill>
            <a:schemeClr val="bg2"/>
          </a:solidFill>
          <a:ln/>
        </p:spPr>
      </p:sp>
      <p:sp>
        <p:nvSpPr>
          <p:cNvPr id="4" name="iconbg-277"/>
          <p:cNvSpPr/>
          <p:nvPr/>
        </p:nvSpPr>
        <p:spPr>
          <a:xfrm>
            <a:off x="658368" y="1371600"/>
            <a:ext cx="502920" cy="502920"/>
          </a:xfrm>
          <a:prstGeom prst="ellipse">
            <a:avLst/>
          </a:prstGeom>
          <a:solidFill>
            <a:schemeClr val="accent1"/>
          </a:solidFill>
          <a:ln/>
        </p:spPr>
      </p:sp>
      <p:pic>
        <p:nvPicPr>
          <p:cNvPr id="5" name="icon-278" descr="TachometerAlt icon">    </p:cNvPr>
          <p:cNvPicPr>
            <a:picLocks noChangeAspect="1"/>
          </p:cNvPicPr>
          <p:nvPr/>
        </p:nvPicPr>
        <p:blipFill>
          <a:blip r:embed="rId1"/>
          <a:stretch>
            <a:fillRect/>
          </a:stretch>
        </p:blipFill>
        <p:spPr>
          <a:xfrm>
            <a:off x="784098" y="1497330"/>
            <a:ext cx="251460" cy="251460"/>
          </a:xfrm>
          <a:prstGeom prst="rect">
            <a:avLst/>
          </a:prstGeom>
        </p:spPr>
      </p:pic>
      <p:sp>
        <p:nvSpPr>
          <p:cNvPr id="6" name="text-279"/>
          <p:cNvSpPr txBox="1"/>
          <p:nvPr/>
        </p:nvSpPr>
        <p:spPr>
          <a:xfrm>
            <a:off x="1325880" y="1371600"/>
            <a:ext cx="301752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Dashboard</a:t>
            </a:r>
            <a:endParaRPr lang="en-US" sz="1800" dirty="0"/>
          </a:p>
        </p:txBody>
      </p:sp>
      <p:sp>
        <p:nvSpPr>
          <p:cNvPr id="7" name="text-280"/>
          <p:cNvSpPr txBox="1"/>
          <p:nvPr/>
        </p:nvSpPr>
        <p:spPr>
          <a:xfrm>
            <a:off x="658368" y="2011680"/>
            <a:ext cx="3657600" cy="685800"/>
          </a:xfrm>
          <a:prstGeom prst="rect">
            <a:avLst/>
          </a:prstGeom>
          <a:noFill/>
          <a:ln/>
        </p:spPr>
        <p:txBody>
          <a:bodyPr wrap="square" lIns="0" tIns="0" rIns="0" bIns="0" rtlCol="0" anchor="t"/>
          <a:lstStyle/>
          <a:p>
            <a:pPr indent="0" marL="0">
              <a:buNone/>
            </a:pPr>
            <a:r>
              <a:rPr lang="en-US" sz="1400" dirty="0">
                <a:solidFill>
                  <a:schemeClr val="accent3"/>
                </a:solidFill>
              </a:rPr>
              <a:t>Counts of products, customers and orders, order value, and stock alerts at 5 units or fewer</a:t>
            </a:r>
            <a:endParaRPr lang="en-US" sz="1400" dirty="0"/>
          </a:p>
        </p:txBody>
      </p:sp>
      <p:sp>
        <p:nvSpPr>
          <p:cNvPr id="8" name="card-281"/>
          <p:cNvSpPr/>
          <p:nvPr/>
        </p:nvSpPr>
        <p:spPr>
          <a:xfrm>
            <a:off x="4663440" y="1188720"/>
            <a:ext cx="4023360" cy="1554480"/>
          </a:xfrm>
          <a:prstGeom prst="roundRect">
            <a:avLst>
              <a:gd name="adj" fmla="val 5882"/>
            </a:avLst>
          </a:prstGeom>
          <a:solidFill>
            <a:schemeClr val="bg2"/>
          </a:solidFill>
          <a:ln/>
        </p:spPr>
      </p:sp>
      <p:sp>
        <p:nvSpPr>
          <p:cNvPr id="9" name="iconbg-282"/>
          <p:cNvSpPr/>
          <p:nvPr/>
        </p:nvSpPr>
        <p:spPr>
          <a:xfrm>
            <a:off x="4864608" y="1371600"/>
            <a:ext cx="502920" cy="502920"/>
          </a:xfrm>
          <a:prstGeom prst="ellipse">
            <a:avLst/>
          </a:prstGeom>
          <a:solidFill>
            <a:schemeClr val="tx2"/>
          </a:solidFill>
          <a:ln/>
        </p:spPr>
      </p:sp>
      <p:pic>
        <p:nvPicPr>
          <p:cNvPr id="10" name="icon-283" descr="Boxes icon">    </p:cNvPr>
          <p:cNvPicPr>
            <a:picLocks noChangeAspect="1"/>
          </p:cNvPicPr>
          <p:nvPr/>
        </p:nvPicPr>
        <p:blipFill>
          <a:blip r:embed="rId2"/>
          <a:stretch>
            <a:fillRect/>
          </a:stretch>
        </p:blipFill>
        <p:spPr>
          <a:xfrm>
            <a:off x="4990338" y="1497330"/>
            <a:ext cx="251460" cy="251460"/>
          </a:xfrm>
          <a:prstGeom prst="rect">
            <a:avLst/>
          </a:prstGeom>
        </p:spPr>
      </p:pic>
      <p:sp>
        <p:nvSpPr>
          <p:cNvPr id="11" name="text-284"/>
          <p:cNvSpPr txBox="1"/>
          <p:nvPr/>
        </p:nvSpPr>
        <p:spPr>
          <a:xfrm>
            <a:off x="5532120" y="1371600"/>
            <a:ext cx="301752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Product management</a:t>
            </a:r>
            <a:endParaRPr lang="en-US" sz="1800" dirty="0"/>
          </a:p>
        </p:txBody>
      </p:sp>
      <p:sp>
        <p:nvSpPr>
          <p:cNvPr id="12" name="text-285"/>
          <p:cNvSpPr txBox="1"/>
          <p:nvPr/>
        </p:nvSpPr>
        <p:spPr>
          <a:xfrm>
            <a:off x="4864608" y="2011680"/>
            <a:ext cx="3657600" cy="685800"/>
          </a:xfrm>
          <a:prstGeom prst="rect">
            <a:avLst/>
          </a:prstGeom>
          <a:noFill/>
          <a:ln/>
        </p:spPr>
        <p:txBody>
          <a:bodyPr wrap="square" lIns="0" tIns="0" rIns="0" bIns="0" rtlCol="0" anchor="t"/>
          <a:lstStyle/>
          <a:p>
            <a:pPr indent="0" marL="0">
              <a:buNone/>
            </a:pPr>
            <a:r>
              <a:rPr lang="en-US" sz="1400" dirty="0">
                <a:solidFill>
                  <a:schemeClr val="accent3"/>
                </a:solidFill>
              </a:rPr>
              <a:t>Add, edit and delete materials; inputs are validated and delete asks for confirmation</a:t>
            </a:r>
            <a:endParaRPr lang="en-US" sz="1400" dirty="0"/>
          </a:p>
        </p:txBody>
      </p:sp>
      <p:sp>
        <p:nvSpPr>
          <p:cNvPr id="13" name="card-286"/>
          <p:cNvSpPr/>
          <p:nvPr/>
        </p:nvSpPr>
        <p:spPr>
          <a:xfrm>
            <a:off x="457200" y="2926080"/>
            <a:ext cx="4023360" cy="1554480"/>
          </a:xfrm>
          <a:prstGeom prst="roundRect">
            <a:avLst>
              <a:gd name="adj" fmla="val 5882"/>
            </a:avLst>
          </a:prstGeom>
          <a:solidFill>
            <a:schemeClr val="bg2"/>
          </a:solidFill>
          <a:ln/>
        </p:spPr>
      </p:sp>
      <p:sp>
        <p:nvSpPr>
          <p:cNvPr id="14" name="iconbg-287"/>
          <p:cNvSpPr/>
          <p:nvPr/>
        </p:nvSpPr>
        <p:spPr>
          <a:xfrm>
            <a:off x="658368" y="3108960"/>
            <a:ext cx="502920" cy="502920"/>
          </a:xfrm>
          <a:prstGeom prst="ellipse">
            <a:avLst/>
          </a:prstGeom>
          <a:solidFill>
            <a:schemeClr val="tx2"/>
          </a:solidFill>
          <a:ln/>
        </p:spPr>
      </p:sp>
      <p:pic>
        <p:nvPicPr>
          <p:cNvPr id="15" name="icon-288" descr="ClipboardList icon">    </p:cNvPr>
          <p:cNvPicPr>
            <a:picLocks noChangeAspect="1"/>
          </p:cNvPicPr>
          <p:nvPr/>
        </p:nvPicPr>
        <p:blipFill>
          <a:blip r:embed="rId3"/>
          <a:stretch>
            <a:fillRect/>
          </a:stretch>
        </p:blipFill>
        <p:spPr>
          <a:xfrm>
            <a:off x="784098" y="3234690"/>
            <a:ext cx="251460" cy="251460"/>
          </a:xfrm>
          <a:prstGeom prst="rect">
            <a:avLst/>
          </a:prstGeom>
        </p:spPr>
      </p:pic>
      <p:sp>
        <p:nvSpPr>
          <p:cNvPr id="16" name="text-289"/>
          <p:cNvSpPr txBox="1"/>
          <p:nvPr/>
        </p:nvSpPr>
        <p:spPr>
          <a:xfrm>
            <a:off x="1325880" y="3108960"/>
            <a:ext cx="301752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Order management</a:t>
            </a:r>
            <a:endParaRPr lang="en-US" sz="1800" dirty="0"/>
          </a:p>
        </p:txBody>
      </p:sp>
      <p:sp>
        <p:nvSpPr>
          <p:cNvPr id="17" name="text-290"/>
          <p:cNvSpPr txBox="1"/>
          <p:nvPr/>
        </p:nvSpPr>
        <p:spPr>
          <a:xfrm>
            <a:off x="658368" y="3749040"/>
            <a:ext cx="3657600" cy="685800"/>
          </a:xfrm>
          <a:prstGeom prst="rect">
            <a:avLst/>
          </a:prstGeom>
          <a:noFill/>
          <a:ln/>
        </p:spPr>
        <p:txBody>
          <a:bodyPr wrap="square" lIns="0" tIns="0" rIns="0" bIns="0" rtlCol="0" anchor="t"/>
          <a:lstStyle/>
          <a:p>
            <a:pPr indent="0" marL="0">
              <a:buNone/>
            </a:pPr>
            <a:r>
              <a:rPr lang="en-US" sz="1400" dirty="0">
                <a:solidFill>
                  <a:schemeClr val="accent3"/>
                </a:solidFill>
              </a:rPr>
              <a:t>Review every order and move it from Pending to Delivered, or Cancelled</a:t>
            </a:r>
            <a:endParaRPr lang="en-US" sz="1400" dirty="0"/>
          </a:p>
        </p:txBody>
      </p:sp>
      <p:sp>
        <p:nvSpPr>
          <p:cNvPr id="18" name="card-291"/>
          <p:cNvSpPr/>
          <p:nvPr/>
        </p:nvSpPr>
        <p:spPr>
          <a:xfrm>
            <a:off x="4663440" y="2926080"/>
            <a:ext cx="4023360" cy="1554480"/>
          </a:xfrm>
          <a:prstGeom prst="roundRect">
            <a:avLst>
              <a:gd name="adj" fmla="val 5882"/>
            </a:avLst>
          </a:prstGeom>
          <a:solidFill>
            <a:schemeClr val="bg2"/>
          </a:solidFill>
          <a:ln/>
        </p:spPr>
      </p:sp>
      <p:sp>
        <p:nvSpPr>
          <p:cNvPr id="19" name="iconbg-292"/>
          <p:cNvSpPr/>
          <p:nvPr/>
        </p:nvSpPr>
        <p:spPr>
          <a:xfrm>
            <a:off x="4864608" y="3108960"/>
            <a:ext cx="502920" cy="502920"/>
          </a:xfrm>
          <a:prstGeom prst="ellipse">
            <a:avLst/>
          </a:prstGeom>
          <a:solidFill>
            <a:schemeClr val="tx2"/>
          </a:solidFill>
          <a:ln/>
        </p:spPr>
      </p:sp>
      <p:pic>
        <p:nvPicPr>
          <p:cNvPr id="20" name="icon-293" descr="Users icon">    </p:cNvPr>
          <p:cNvPicPr>
            <a:picLocks noChangeAspect="1"/>
          </p:cNvPicPr>
          <p:nvPr/>
        </p:nvPicPr>
        <p:blipFill>
          <a:blip r:embed="rId4"/>
          <a:stretch>
            <a:fillRect/>
          </a:stretch>
        </p:blipFill>
        <p:spPr>
          <a:xfrm>
            <a:off x="4990338" y="3234690"/>
            <a:ext cx="251460" cy="251460"/>
          </a:xfrm>
          <a:prstGeom prst="rect">
            <a:avLst/>
          </a:prstGeom>
        </p:spPr>
      </p:pic>
      <p:sp>
        <p:nvSpPr>
          <p:cNvPr id="21" name="text-294"/>
          <p:cNvSpPr txBox="1"/>
          <p:nvPr/>
        </p:nvSpPr>
        <p:spPr>
          <a:xfrm>
            <a:off x="5532120" y="3108960"/>
            <a:ext cx="301752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Customers and categories</a:t>
            </a:r>
            <a:endParaRPr lang="en-US" sz="1800" dirty="0"/>
          </a:p>
        </p:txBody>
      </p:sp>
      <p:sp>
        <p:nvSpPr>
          <p:cNvPr id="22" name="text-295"/>
          <p:cNvSpPr txBox="1"/>
          <p:nvPr/>
        </p:nvSpPr>
        <p:spPr>
          <a:xfrm>
            <a:off x="4864608" y="3749040"/>
            <a:ext cx="3657600" cy="685800"/>
          </a:xfrm>
          <a:prstGeom prst="rect">
            <a:avLst/>
          </a:prstGeom>
          <a:noFill/>
          <a:ln/>
        </p:spPr>
        <p:txBody>
          <a:bodyPr wrap="square" lIns="0" tIns="0" rIns="0" bIns="0" rtlCol="0" anchor="t"/>
          <a:lstStyle/>
          <a:p>
            <a:pPr indent="0" marL="0">
              <a:buNone/>
            </a:pPr>
            <a:r>
              <a:rPr lang="en-US" sz="1400" dirty="0">
                <a:solidFill>
                  <a:schemeClr val="accent3"/>
                </a:solidFill>
              </a:rPr>
              <a:t>List registered customers; categories are derived from the catalogue</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Specification coverage</a:t>
            </a:r>
            <a:endParaRPr lang="en-US" sz="3400" dirty="0"/>
          </a:p>
        </p:txBody>
      </p:sp>
      <p:sp>
        <p:nvSpPr>
          <p:cNvPr id="3" name="text-296"/>
          <p:cNvSpPr txBox="1"/>
          <p:nvPr/>
        </p:nvSpPr>
        <p:spPr>
          <a:xfrm>
            <a:off x="457200" y="1097280"/>
            <a:ext cx="3840480" cy="274320"/>
          </a:xfrm>
          <a:prstGeom prst="rect">
            <a:avLst/>
          </a:prstGeom>
          <a:noFill/>
          <a:ln/>
        </p:spPr>
        <p:txBody>
          <a:bodyPr wrap="square" lIns="0" tIns="0" rIns="0" bIns="0" rtlCol="0" anchor="t"/>
          <a:lstStyle/>
          <a:p>
            <a:pPr indent="0" marL="0">
              <a:buNone/>
            </a:pPr>
            <a:r>
              <a:rPr lang="en-US" sz="1400" b="1" dirty="0">
                <a:solidFill>
                  <a:schemeClr val="accent3"/>
                </a:solidFill>
              </a:rPr>
              <a:t>19 common features in the specification checklist</a:t>
            </a:r>
            <a:endParaRPr lang="en-US" sz="1400" dirty="0"/>
          </a:p>
        </p:txBody>
      </p:sp>
      <p:graphicFrame>
        <p:nvGraphicFramePr>
          <p:cNvPr id="4" name="Chart 0" descr=""/>
          <p:cNvGraphicFramePr/>
          <p:nvPr/>
        </p:nvGraphicFramePr>
        <p:xfrm>
          <a:off x="457200" y="1417320"/>
          <a:ext cx="3840480" cy="3200400"/>
        </p:xfrm>
        <a:graphic xmlns:a="http://schemas.openxmlformats.org/drawingml/2006/main">
          <a:graphicData uri="http://schemas.openxmlformats.org/drawingml/2006/chart">
            <c:chart xmlns:c="http://schemas.openxmlformats.org/drawingml/2006/chart" r:id="rId1"/>
          </a:graphicData>
        </a:graphic>
      </p:graphicFrame>
      <p:sp>
        <p:nvSpPr>
          <p:cNvPr id="5" name="pill-297"/>
          <p:cNvSpPr txBox="1"/>
          <p:nvPr/>
        </p:nvSpPr>
        <p:spPr>
          <a:xfrm>
            <a:off x="4572000" y="1261872"/>
            <a:ext cx="822960" cy="256032"/>
          </a:xfrm>
          <a:prstGeom prst="roundRect">
            <a:avLst>
              <a:gd name="adj" fmla="val 53571"/>
            </a:avLst>
          </a:prstGeom>
          <a:solidFill>
            <a:schemeClr val="accent6"/>
          </a:solidFill>
          <a:ln/>
        </p:spPr>
        <p:txBody>
          <a:bodyPr wrap="square" lIns="0" tIns="0" rIns="0" bIns="0" rtlCol="0" anchor="ctr"/>
          <a:lstStyle/>
          <a:p>
            <a:pPr algn="ctr" indent="0" marL="0">
              <a:buNone/>
            </a:pPr>
            <a:r>
              <a:rPr lang="en-US" sz="1100" b="1" dirty="0">
                <a:solidFill>
                  <a:schemeClr val="bg1"/>
                </a:solidFill>
              </a:rPr>
              <a:t>PARTIAL</a:t>
            </a:r>
            <a:endParaRPr lang="en-US" sz="1100" dirty="0"/>
          </a:p>
        </p:txBody>
      </p:sp>
      <p:sp>
        <p:nvSpPr>
          <p:cNvPr id="6" name="text-298"/>
          <p:cNvSpPr txBox="1"/>
          <p:nvPr/>
        </p:nvSpPr>
        <p:spPr>
          <a:xfrm>
            <a:off x="5532120" y="1188720"/>
            <a:ext cx="3154680" cy="566928"/>
          </a:xfrm>
          <a:prstGeom prst="rect">
            <a:avLst/>
          </a:prstGeom>
          <a:noFill/>
          <a:ln/>
        </p:spPr>
        <p:txBody>
          <a:bodyPr wrap="square" lIns="0" tIns="0" rIns="0" bIns="0" rtlCol="0" anchor="t"/>
          <a:lstStyle/>
          <a:p>
            <a:pPr indent="0" marL="0">
              <a:buNone/>
            </a:pPr>
            <a:r>
              <a:rPr lang="en-US" sz="1400" dirty="0">
                <a:solidFill>
                  <a:schemeClr val="tx1"/>
                </a:solidFill>
              </a:rPr>
              <a:t>User profile: edit details and address, but no password change</a:t>
            </a:r>
            <a:endParaRPr lang="en-US" sz="1400" dirty="0"/>
          </a:p>
        </p:txBody>
      </p:sp>
      <p:sp>
        <p:nvSpPr>
          <p:cNvPr id="7" name="pill-299"/>
          <p:cNvSpPr txBox="1"/>
          <p:nvPr/>
        </p:nvSpPr>
        <p:spPr>
          <a:xfrm>
            <a:off x="4572000" y="1920240"/>
            <a:ext cx="822960" cy="256032"/>
          </a:xfrm>
          <a:prstGeom prst="roundRect">
            <a:avLst>
              <a:gd name="adj" fmla="val 53571"/>
            </a:avLst>
          </a:prstGeom>
          <a:solidFill>
            <a:schemeClr val="accent6"/>
          </a:solidFill>
          <a:ln/>
        </p:spPr>
        <p:txBody>
          <a:bodyPr wrap="square" lIns="0" tIns="0" rIns="0" bIns="0" rtlCol="0" anchor="ctr"/>
          <a:lstStyle/>
          <a:p>
            <a:pPr algn="ctr" indent="0" marL="0">
              <a:buNone/>
            </a:pPr>
            <a:r>
              <a:rPr lang="en-US" sz="1100" b="1" dirty="0">
                <a:solidFill>
                  <a:schemeClr val="bg1"/>
                </a:solidFill>
              </a:rPr>
              <a:t>PARTIAL</a:t>
            </a:r>
            <a:endParaRPr lang="en-US" sz="1100" dirty="0"/>
          </a:p>
        </p:txBody>
      </p:sp>
      <p:sp>
        <p:nvSpPr>
          <p:cNvPr id="8" name="text-300"/>
          <p:cNvSpPr txBox="1"/>
          <p:nvPr/>
        </p:nvSpPr>
        <p:spPr>
          <a:xfrm>
            <a:off x="5532120" y="1847088"/>
            <a:ext cx="3154680" cy="566928"/>
          </a:xfrm>
          <a:prstGeom prst="rect">
            <a:avLst/>
          </a:prstGeom>
          <a:noFill/>
          <a:ln/>
        </p:spPr>
        <p:txBody>
          <a:bodyPr wrap="square" lIns="0" tIns="0" rIns="0" bIns="0" rtlCol="0" anchor="t"/>
          <a:lstStyle/>
          <a:p>
            <a:pPr indent="0" marL="0">
              <a:buNone/>
            </a:pPr>
            <a:r>
              <a:rPr lang="en-US" sz="1400" dirty="0">
                <a:solidFill>
                  <a:schemeClr val="tx1"/>
                </a:solidFill>
              </a:rPr>
              <a:t>Payment: Cash on Delivery works; UPI is a demo choice; no card</a:t>
            </a:r>
            <a:endParaRPr lang="en-US" sz="1400" dirty="0"/>
          </a:p>
        </p:txBody>
      </p:sp>
      <p:sp>
        <p:nvSpPr>
          <p:cNvPr id="9" name="pill-301"/>
          <p:cNvSpPr txBox="1"/>
          <p:nvPr/>
        </p:nvSpPr>
        <p:spPr>
          <a:xfrm>
            <a:off x="4572000" y="2578608"/>
            <a:ext cx="822960" cy="256032"/>
          </a:xfrm>
          <a:prstGeom prst="roundRect">
            <a:avLst>
              <a:gd name="adj" fmla="val 53571"/>
            </a:avLst>
          </a:prstGeom>
          <a:solidFill>
            <a:schemeClr val="accent6"/>
          </a:solidFill>
          <a:ln/>
        </p:spPr>
        <p:txBody>
          <a:bodyPr wrap="square" lIns="0" tIns="0" rIns="0" bIns="0" rtlCol="0" anchor="ctr"/>
          <a:lstStyle/>
          <a:p>
            <a:pPr algn="ctr" indent="0" marL="0">
              <a:buNone/>
            </a:pPr>
            <a:r>
              <a:rPr lang="en-US" sz="1100" b="1" dirty="0">
                <a:solidFill>
                  <a:schemeClr val="bg1"/>
                </a:solidFill>
              </a:rPr>
              <a:t>PARTIAL</a:t>
            </a:r>
            <a:endParaRPr lang="en-US" sz="1100" dirty="0"/>
          </a:p>
        </p:txBody>
      </p:sp>
      <p:sp>
        <p:nvSpPr>
          <p:cNvPr id="10" name="text-302"/>
          <p:cNvSpPr txBox="1"/>
          <p:nvPr/>
        </p:nvSpPr>
        <p:spPr>
          <a:xfrm>
            <a:off x="5532120" y="2505456"/>
            <a:ext cx="3154680" cy="566928"/>
          </a:xfrm>
          <a:prstGeom prst="rect">
            <a:avLst/>
          </a:prstGeom>
          <a:noFill/>
          <a:ln/>
        </p:spPr>
        <p:txBody>
          <a:bodyPr wrap="square" lIns="0" tIns="0" rIns="0" bIns="0" rtlCol="0" anchor="t"/>
          <a:lstStyle/>
          <a:p>
            <a:pPr indent="0" marL="0">
              <a:buNone/>
            </a:pPr>
            <a:r>
              <a:rPr lang="en-US" sz="1400" dirty="0">
                <a:solidFill>
                  <a:schemeClr val="tx1"/>
                </a:solidFill>
              </a:rPr>
              <a:t>Contact: form confirms submission, messages are not stored</a:t>
            </a:r>
            <a:endParaRPr lang="en-US" sz="1400" dirty="0"/>
          </a:p>
        </p:txBody>
      </p:sp>
      <p:sp>
        <p:nvSpPr>
          <p:cNvPr id="11" name="pill-303"/>
          <p:cNvSpPr txBox="1"/>
          <p:nvPr/>
        </p:nvSpPr>
        <p:spPr>
          <a:xfrm>
            <a:off x="4572000" y="3236976"/>
            <a:ext cx="822960" cy="256032"/>
          </a:xfrm>
          <a:prstGeom prst="roundRect">
            <a:avLst>
              <a:gd name="adj" fmla="val 53571"/>
            </a:avLst>
          </a:prstGeom>
          <a:solidFill>
            <a:schemeClr val="accent5"/>
          </a:solidFill>
          <a:ln/>
        </p:spPr>
        <p:txBody>
          <a:bodyPr wrap="square" lIns="0" tIns="0" rIns="0" bIns="0" rtlCol="0" anchor="ctr"/>
          <a:lstStyle/>
          <a:p>
            <a:pPr algn="ctr" indent="0" marL="0">
              <a:buNone/>
            </a:pPr>
            <a:r>
              <a:rPr lang="en-US" sz="1100" b="1" dirty="0">
                <a:solidFill>
                  <a:schemeClr val="bg1"/>
                </a:solidFill>
              </a:rPr>
              <a:t>MISSING</a:t>
            </a:r>
            <a:endParaRPr lang="en-US" sz="1100" dirty="0"/>
          </a:p>
        </p:txBody>
      </p:sp>
      <p:sp>
        <p:nvSpPr>
          <p:cNvPr id="12" name="text-304"/>
          <p:cNvSpPr txBox="1"/>
          <p:nvPr/>
        </p:nvSpPr>
        <p:spPr>
          <a:xfrm>
            <a:off x="5532120" y="3163824"/>
            <a:ext cx="3154680" cy="566928"/>
          </a:xfrm>
          <a:prstGeom prst="rect">
            <a:avLst/>
          </a:prstGeom>
          <a:noFill/>
          <a:ln/>
        </p:spPr>
        <p:txBody>
          <a:bodyPr wrap="square" lIns="0" tIns="0" rIns="0" bIns="0" rtlCol="0" anchor="t"/>
          <a:lstStyle/>
          <a:p>
            <a:pPr indent="0" marL="0">
              <a:buNone/>
            </a:pPr>
            <a:r>
              <a:rPr lang="en-US" sz="1400" dirty="0">
                <a:solidFill>
                  <a:schemeClr val="tx1"/>
                </a:solidFill>
              </a:rPr>
              <a:t>Reviews and ratings</a:t>
            </a:r>
            <a:endParaRPr lang="en-US" sz="1400" dirty="0"/>
          </a:p>
        </p:txBody>
      </p:sp>
      <p:sp>
        <p:nvSpPr>
          <p:cNvPr id="13" name="pill-305"/>
          <p:cNvSpPr txBox="1"/>
          <p:nvPr/>
        </p:nvSpPr>
        <p:spPr>
          <a:xfrm>
            <a:off x="4572000" y="3895344"/>
            <a:ext cx="8229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EXTRA</a:t>
            </a:r>
            <a:endParaRPr lang="en-US" sz="1100" dirty="0"/>
          </a:p>
        </p:txBody>
      </p:sp>
      <p:sp>
        <p:nvSpPr>
          <p:cNvPr id="14" name="text-306"/>
          <p:cNvSpPr txBox="1"/>
          <p:nvPr/>
        </p:nvSpPr>
        <p:spPr>
          <a:xfrm>
            <a:off x="5532120" y="3822192"/>
            <a:ext cx="3154680" cy="566928"/>
          </a:xfrm>
          <a:prstGeom prst="rect">
            <a:avLst/>
          </a:prstGeom>
          <a:noFill/>
          <a:ln/>
        </p:spPr>
        <p:txBody>
          <a:bodyPr wrap="square" lIns="0" tIns="0" rIns="0" bIns="0" rtlCol="0" anchor="t"/>
          <a:lstStyle/>
          <a:p>
            <a:pPr indent="0" marL="0">
              <a:buNone/>
            </a:pPr>
            <a:r>
              <a:rPr lang="en-US" sz="1400" dirty="0">
                <a:solidFill>
                  <a:schemeClr val="tx1"/>
                </a:solidFill>
              </a:rPr>
              <a:t>Per-customer carts, stock caps and low-stock alerts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Evaluation scorecard</a:t>
            </a:r>
            <a:endParaRPr lang="en-US" sz="3400" dirty="0"/>
          </a:p>
        </p:txBody>
      </p:sp>
      <p:sp>
        <p:nvSpPr>
          <p:cNvPr id="3" name="text-307"/>
          <p:cNvSpPr txBox="1"/>
          <p:nvPr/>
        </p:nvSpPr>
        <p:spPr>
          <a:xfrm>
            <a:off x="457200" y="1097280"/>
            <a:ext cx="3931920" cy="274320"/>
          </a:xfrm>
          <a:prstGeom prst="rect">
            <a:avLst/>
          </a:prstGeom>
          <a:noFill/>
          <a:ln/>
        </p:spPr>
        <p:txBody>
          <a:bodyPr wrap="square" lIns="0" tIns="0" rIns="0" bIns="0" rtlCol="0" anchor="t"/>
          <a:lstStyle/>
          <a:p>
            <a:pPr indent="0" marL="0">
              <a:buNone/>
            </a:pPr>
            <a:r>
              <a:rPr lang="en-US" sz="1400" b="1" dirty="0">
                <a:solidFill>
                  <a:schemeClr val="accent3"/>
                </a:solidFill>
              </a:rPr>
              <a:t>100-mark scheme</a:t>
            </a:r>
            <a:endParaRPr lang="en-US" sz="1400" dirty="0"/>
          </a:p>
        </p:txBody>
      </p:sp>
      <p:graphicFrame>
        <p:nvGraphicFramePr>
          <p:cNvPr id="4" name="Chart 0" descr=""/>
          <p:cNvGraphicFramePr/>
          <p:nvPr/>
        </p:nvGraphicFramePr>
        <p:xfrm>
          <a:off x="457200" y="1371600"/>
          <a:ext cx="3931920" cy="2377440"/>
        </p:xfrm>
        <a:graphic xmlns:a="http://schemas.openxmlformats.org/drawingml/2006/main">
          <a:graphicData uri="http://schemas.openxmlformats.org/drawingml/2006/chart">
            <c:chart xmlns:c="http://schemas.openxmlformats.org/drawingml/2006/chart" r:id="rId1"/>
          </a:graphicData>
        </a:graphic>
      </p:graphicFrame>
      <p:sp>
        <p:nvSpPr>
          <p:cNvPr id="5" name="text-308"/>
          <p:cNvSpPr txBox="1"/>
          <p:nvPr/>
        </p:nvSpPr>
        <p:spPr>
          <a:xfrm>
            <a:off x="4663440" y="1188720"/>
            <a:ext cx="4023360" cy="256032"/>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Implementation</a:t>
            </a:r>
            <a:endParaRPr lang="en-US" sz="1400" dirty="0"/>
          </a:p>
        </p:txBody>
      </p:sp>
      <p:sp>
        <p:nvSpPr>
          <p:cNvPr id="6" name="text-309"/>
          <p:cNvSpPr txBox="1"/>
          <p:nvPr/>
        </p:nvSpPr>
        <p:spPr>
          <a:xfrm>
            <a:off x="4663440" y="1444752"/>
            <a:ext cx="4023360" cy="365760"/>
          </a:xfrm>
          <a:prstGeom prst="rect">
            <a:avLst/>
          </a:prstGeom>
          <a:noFill/>
          <a:ln/>
        </p:spPr>
        <p:txBody>
          <a:bodyPr wrap="square" lIns="0" tIns="0" rIns="0" bIns="0" rtlCol="0" anchor="t"/>
          <a:lstStyle/>
          <a:p>
            <a:pPr indent="0" marL="0">
              <a:buNone/>
            </a:pPr>
            <a:r>
              <a:rPr lang="en-US" sz="1300" dirty="0">
                <a:solidFill>
                  <a:schemeClr val="accent3"/>
                </a:solidFill>
              </a:rPr>
              <a:t>Routing, auth, products, cart, wishlist, checkout, Redux, Context</a:t>
            </a:r>
            <a:endParaRPr lang="en-US" sz="1300" dirty="0"/>
          </a:p>
        </p:txBody>
      </p:sp>
      <p:sp>
        <p:nvSpPr>
          <p:cNvPr id="7" name="text-310"/>
          <p:cNvSpPr txBox="1"/>
          <p:nvPr/>
        </p:nvSpPr>
        <p:spPr>
          <a:xfrm>
            <a:off x="4663440" y="1828800"/>
            <a:ext cx="4023360" cy="256032"/>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UI and responsive</a:t>
            </a:r>
            <a:endParaRPr lang="en-US" sz="1400" dirty="0"/>
          </a:p>
        </p:txBody>
      </p:sp>
      <p:sp>
        <p:nvSpPr>
          <p:cNvPr id="8" name="text-311"/>
          <p:cNvSpPr txBox="1"/>
          <p:nvPr/>
        </p:nvSpPr>
        <p:spPr>
          <a:xfrm>
            <a:off x="4663440" y="2084832"/>
            <a:ext cx="4023360" cy="365760"/>
          </a:xfrm>
          <a:prstGeom prst="rect">
            <a:avLst/>
          </a:prstGeom>
          <a:noFill/>
          <a:ln/>
        </p:spPr>
        <p:txBody>
          <a:bodyPr wrap="square" lIns="0" tIns="0" rIns="0" bIns="0" rtlCol="0" anchor="t"/>
          <a:lstStyle/>
          <a:p>
            <a:pPr indent="0" marL="0">
              <a:buNone/>
            </a:pPr>
            <a:r>
              <a:rPr lang="en-US" sz="1300" dirty="0">
                <a:solidFill>
                  <a:schemeClr val="accent3"/>
                </a:solidFill>
              </a:rPr>
              <a:t>Bootstrap plus CSS breakpoints from 480 to 1,050 px</a:t>
            </a:r>
            <a:endParaRPr lang="en-US" sz="1300" dirty="0"/>
          </a:p>
        </p:txBody>
      </p:sp>
      <p:sp>
        <p:nvSpPr>
          <p:cNvPr id="9" name="text-312"/>
          <p:cNvSpPr txBox="1"/>
          <p:nvPr/>
        </p:nvSpPr>
        <p:spPr>
          <a:xfrm>
            <a:off x="4663440" y="2468880"/>
            <a:ext cx="4023360" cy="256032"/>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Documentation</a:t>
            </a:r>
            <a:endParaRPr lang="en-US" sz="1400" dirty="0"/>
          </a:p>
        </p:txBody>
      </p:sp>
      <p:sp>
        <p:nvSpPr>
          <p:cNvPr id="10" name="text-313"/>
          <p:cNvSpPr txBox="1"/>
          <p:nvPr/>
        </p:nvSpPr>
        <p:spPr>
          <a:xfrm>
            <a:off x="4663440" y="2724912"/>
            <a:ext cx="4023360" cy="365760"/>
          </a:xfrm>
          <a:prstGeom prst="rect">
            <a:avLst/>
          </a:prstGeom>
          <a:noFill/>
          <a:ln/>
        </p:spPr>
        <p:txBody>
          <a:bodyPr wrap="square" lIns="0" tIns="0" rIns="0" bIns="0" rtlCol="0" anchor="t"/>
          <a:lstStyle/>
          <a:p>
            <a:pPr indent="0" marL="0">
              <a:buNone/>
            </a:pPr>
            <a:r>
              <a:rPr lang="en-US" sz="1300" dirty="0">
                <a:solidFill>
                  <a:schemeClr val="accent3"/>
                </a:solidFill>
              </a:rPr>
              <a:t>Companion PDF: structure, routes, modules, data layer</a:t>
            </a:r>
            <a:endParaRPr lang="en-US" sz="1300" dirty="0"/>
          </a:p>
        </p:txBody>
      </p:sp>
      <p:sp>
        <p:nvSpPr>
          <p:cNvPr id="11" name="text-314"/>
          <p:cNvSpPr txBox="1"/>
          <p:nvPr/>
        </p:nvSpPr>
        <p:spPr>
          <a:xfrm>
            <a:off x="4663440" y="3108960"/>
            <a:ext cx="4023360" cy="256032"/>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Presentation, viva</a:t>
            </a:r>
            <a:endParaRPr lang="en-US" sz="1400" dirty="0"/>
          </a:p>
        </p:txBody>
      </p:sp>
      <p:sp>
        <p:nvSpPr>
          <p:cNvPr id="12" name="text-315"/>
          <p:cNvSpPr txBox="1"/>
          <p:nvPr/>
        </p:nvSpPr>
        <p:spPr>
          <a:xfrm>
            <a:off x="4663440" y="3364992"/>
            <a:ext cx="4023360" cy="365760"/>
          </a:xfrm>
          <a:prstGeom prst="rect">
            <a:avLst/>
          </a:prstGeom>
          <a:noFill/>
          <a:ln/>
        </p:spPr>
        <p:txBody>
          <a:bodyPr wrap="square" lIns="0" tIns="0" rIns="0" bIns="0" rtlCol="0" anchor="t"/>
          <a:lstStyle/>
          <a:p>
            <a:pPr indent="0" marL="0">
              <a:buNone/>
            </a:pPr>
            <a:r>
              <a:rPr lang="en-US" sz="1300" dirty="0">
                <a:solidFill>
                  <a:schemeClr val="accent3"/>
                </a:solidFill>
              </a:rPr>
              <a:t>This deck, plus a viva Q&amp;A appendix in the PDF</a:t>
            </a:r>
            <a:endParaRPr lang="en-US" sz="1300" dirty="0"/>
          </a:p>
        </p:txBody>
      </p:sp>
      <p:sp>
        <p:nvSpPr>
          <p:cNvPr id="13" name="card-316"/>
          <p:cNvSpPr/>
          <p:nvPr/>
        </p:nvSpPr>
        <p:spPr>
          <a:xfrm>
            <a:off x="457200" y="3931920"/>
            <a:ext cx="8229600" cy="731520"/>
          </a:xfrm>
          <a:prstGeom prst="roundRect">
            <a:avLst>
              <a:gd name="adj" fmla="val 12500"/>
            </a:avLst>
          </a:prstGeom>
          <a:solidFill>
            <a:schemeClr val="bg2"/>
          </a:solidFill>
          <a:ln/>
        </p:spPr>
      </p:sp>
      <p:sp>
        <p:nvSpPr>
          <p:cNvPr id="14" name="text-317"/>
          <p:cNvSpPr txBox="1"/>
          <p:nvPr/>
        </p:nvSpPr>
        <p:spPr>
          <a:xfrm>
            <a:off x="640080" y="3931920"/>
            <a:ext cx="1005840" cy="731520"/>
          </a:xfrm>
          <a:prstGeom prst="rect">
            <a:avLst/>
          </a:prstGeom>
          <a:noFill/>
          <a:ln/>
        </p:spPr>
        <p:txBody>
          <a:bodyPr wrap="square" lIns="0" tIns="0" rIns="0" bIns="0" rtlCol="0" anchor="ctr"/>
          <a:lstStyle/>
          <a:p>
            <a:pPr indent="0" marL="0">
              <a:buNone/>
            </a:pPr>
            <a:r>
              <a:rPr lang="en-US" sz="1400" b="1" dirty="0">
                <a:solidFill>
                  <a:schemeClr val="tx1"/>
                </a:solidFill>
              </a:rPr>
              <a:t>Viva flow:</a:t>
            </a:r>
            <a:endParaRPr lang="en-US" sz="1400" dirty="0"/>
          </a:p>
        </p:txBody>
      </p:sp>
      <p:sp>
        <p:nvSpPr>
          <p:cNvPr id="15" name="pill-318"/>
          <p:cNvSpPr txBox="1"/>
          <p:nvPr/>
        </p:nvSpPr>
        <p:spPr>
          <a:xfrm>
            <a:off x="1691640" y="4114800"/>
            <a:ext cx="1051560" cy="365760"/>
          </a:xfrm>
          <a:prstGeom prst="roundRect">
            <a:avLst>
              <a:gd name="adj" fmla="val 37500"/>
            </a:avLst>
          </a:prstGeom>
          <a:solidFill>
            <a:schemeClr val="tx2"/>
          </a:solidFill>
          <a:ln/>
        </p:spPr>
        <p:txBody>
          <a:bodyPr wrap="square" lIns="0" tIns="0" rIns="0" bIns="0" rtlCol="0" anchor="ctr"/>
          <a:lstStyle/>
          <a:p>
            <a:pPr algn="ctr" indent="0" marL="0">
              <a:buNone/>
            </a:pPr>
            <a:r>
              <a:rPr lang="en-US" sz="1300" b="1" dirty="0">
                <a:solidFill>
                  <a:schemeClr val="bg1"/>
                </a:solidFill>
              </a:rPr>
              <a:t>Component</a:t>
            </a:r>
            <a:endParaRPr lang="en-US" sz="1300" dirty="0"/>
          </a:p>
        </p:txBody>
      </p:sp>
      <p:sp>
        <p:nvSpPr>
          <p:cNvPr id="16" name="arrow-319"/>
          <p:cNvSpPr/>
          <p:nvPr/>
        </p:nvSpPr>
        <p:spPr>
          <a:xfrm>
            <a:off x="2761488" y="4297680"/>
            <a:ext cx="283464" cy="0"/>
          </a:xfrm>
          <a:prstGeom prst="line">
            <a:avLst/>
          </a:prstGeom>
          <a:noFill/>
          <a:ln w="25400">
            <a:solidFill>
              <a:schemeClr val="accent3"/>
            </a:solidFill>
            <a:prstDash val="solid"/>
            <a:tailEnd type="triangle"/>
          </a:ln>
        </p:spPr>
      </p:sp>
      <p:sp>
        <p:nvSpPr>
          <p:cNvPr id="17" name="pill-320"/>
          <p:cNvSpPr txBox="1"/>
          <p:nvPr/>
        </p:nvSpPr>
        <p:spPr>
          <a:xfrm>
            <a:off x="3063240" y="4114800"/>
            <a:ext cx="1051560" cy="365760"/>
          </a:xfrm>
          <a:prstGeom prst="roundRect">
            <a:avLst>
              <a:gd name="adj" fmla="val 37500"/>
            </a:avLst>
          </a:prstGeom>
          <a:solidFill>
            <a:schemeClr val="tx2"/>
          </a:solidFill>
          <a:ln/>
        </p:spPr>
        <p:txBody>
          <a:bodyPr wrap="square" lIns="0" tIns="0" rIns="0" bIns="0" rtlCol="0" anchor="ctr"/>
          <a:lstStyle/>
          <a:p>
            <a:pPr algn="ctr" indent="0" marL="0">
              <a:buNone/>
            </a:pPr>
            <a:r>
              <a:rPr lang="en-US" sz="1300" b="1" dirty="0">
                <a:solidFill>
                  <a:schemeClr val="bg1"/>
                </a:solidFill>
              </a:rPr>
              <a:t>dispatch</a:t>
            </a:r>
            <a:endParaRPr lang="en-US" sz="1300" dirty="0"/>
          </a:p>
        </p:txBody>
      </p:sp>
      <p:sp>
        <p:nvSpPr>
          <p:cNvPr id="18" name="arrow-321"/>
          <p:cNvSpPr/>
          <p:nvPr/>
        </p:nvSpPr>
        <p:spPr>
          <a:xfrm>
            <a:off x="4133088" y="4297680"/>
            <a:ext cx="283464" cy="0"/>
          </a:xfrm>
          <a:prstGeom prst="line">
            <a:avLst/>
          </a:prstGeom>
          <a:noFill/>
          <a:ln w="25400">
            <a:solidFill>
              <a:schemeClr val="accent3"/>
            </a:solidFill>
            <a:prstDash val="solid"/>
            <a:tailEnd type="triangle"/>
          </a:ln>
        </p:spPr>
      </p:sp>
      <p:sp>
        <p:nvSpPr>
          <p:cNvPr id="19" name="pill-322"/>
          <p:cNvSpPr txBox="1"/>
          <p:nvPr/>
        </p:nvSpPr>
        <p:spPr>
          <a:xfrm>
            <a:off x="4434840" y="4114800"/>
            <a:ext cx="1051560" cy="365760"/>
          </a:xfrm>
          <a:prstGeom prst="roundRect">
            <a:avLst>
              <a:gd name="adj" fmla="val 37500"/>
            </a:avLst>
          </a:prstGeom>
          <a:solidFill>
            <a:schemeClr val="tx2"/>
          </a:solidFill>
          <a:ln/>
        </p:spPr>
        <p:txBody>
          <a:bodyPr wrap="square" lIns="0" tIns="0" rIns="0" bIns="0" rtlCol="0" anchor="ctr"/>
          <a:lstStyle/>
          <a:p>
            <a:pPr algn="ctr" indent="0" marL="0">
              <a:buNone/>
            </a:pPr>
            <a:r>
              <a:rPr lang="en-US" sz="1300" b="1" dirty="0">
                <a:solidFill>
                  <a:schemeClr val="bg1"/>
                </a:solidFill>
              </a:rPr>
              <a:t>Reducer</a:t>
            </a:r>
            <a:endParaRPr lang="en-US" sz="1300" dirty="0"/>
          </a:p>
        </p:txBody>
      </p:sp>
      <p:sp>
        <p:nvSpPr>
          <p:cNvPr id="20" name="arrow-323"/>
          <p:cNvSpPr/>
          <p:nvPr/>
        </p:nvSpPr>
        <p:spPr>
          <a:xfrm>
            <a:off x="5504688" y="4297680"/>
            <a:ext cx="283464" cy="0"/>
          </a:xfrm>
          <a:prstGeom prst="line">
            <a:avLst/>
          </a:prstGeom>
          <a:noFill/>
          <a:ln w="25400">
            <a:solidFill>
              <a:schemeClr val="accent3"/>
            </a:solidFill>
            <a:prstDash val="solid"/>
            <a:tailEnd type="triangle"/>
          </a:ln>
        </p:spPr>
      </p:sp>
      <p:sp>
        <p:nvSpPr>
          <p:cNvPr id="21" name="pill-324"/>
          <p:cNvSpPr txBox="1"/>
          <p:nvPr/>
        </p:nvSpPr>
        <p:spPr>
          <a:xfrm>
            <a:off x="5806440" y="4114800"/>
            <a:ext cx="1051560" cy="365760"/>
          </a:xfrm>
          <a:prstGeom prst="roundRect">
            <a:avLst>
              <a:gd name="adj" fmla="val 37500"/>
            </a:avLst>
          </a:prstGeom>
          <a:solidFill>
            <a:schemeClr val="accent1"/>
          </a:solidFill>
          <a:ln/>
        </p:spPr>
        <p:txBody>
          <a:bodyPr wrap="square" lIns="0" tIns="0" rIns="0" bIns="0" rtlCol="0" anchor="ctr"/>
          <a:lstStyle/>
          <a:p>
            <a:pPr algn="ctr" indent="0" marL="0">
              <a:buNone/>
            </a:pPr>
            <a:r>
              <a:rPr lang="en-US" sz="1300" b="1" dirty="0">
                <a:solidFill>
                  <a:schemeClr val="tx1"/>
                </a:solidFill>
              </a:rPr>
              <a:t>Store</a:t>
            </a:r>
            <a:endParaRPr lang="en-US" sz="1300" dirty="0"/>
          </a:p>
        </p:txBody>
      </p:sp>
      <p:sp>
        <p:nvSpPr>
          <p:cNvPr id="22" name="arrow-325"/>
          <p:cNvSpPr/>
          <p:nvPr/>
        </p:nvSpPr>
        <p:spPr>
          <a:xfrm>
            <a:off x="6876288" y="4297680"/>
            <a:ext cx="283464" cy="0"/>
          </a:xfrm>
          <a:prstGeom prst="line">
            <a:avLst/>
          </a:prstGeom>
          <a:noFill/>
          <a:ln w="25400">
            <a:solidFill>
              <a:schemeClr val="accent3"/>
            </a:solidFill>
            <a:prstDash val="solid"/>
            <a:tailEnd type="triangle"/>
          </a:ln>
        </p:spPr>
      </p:sp>
      <p:sp>
        <p:nvSpPr>
          <p:cNvPr id="23" name="pill-326"/>
          <p:cNvSpPr txBox="1"/>
          <p:nvPr/>
        </p:nvSpPr>
        <p:spPr>
          <a:xfrm>
            <a:off x="7178040" y="4114800"/>
            <a:ext cx="1051560" cy="365760"/>
          </a:xfrm>
          <a:prstGeom prst="roundRect">
            <a:avLst>
              <a:gd name="adj" fmla="val 37500"/>
            </a:avLst>
          </a:prstGeom>
          <a:solidFill>
            <a:schemeClr val="tx2"/>
          </a:solidFill>
          <a:ln/>
        </p:spPr>
        <p:txBody>
          <a:bodyPr wrap="square" lIns="0" tIns="0" rIns="0" bIns="0" rtlCol="0" anchor="ctr"/>
          <a:lstStyle/>
          <a:p>
            <a:pPr algn="ctr" indent="0" marL="0">
              <a:buNone/>
            </a:pPr>
            <a:r>
              <a:rPr lang="en-US" sz="1300" b="1" dirty="0">
                <a:solidFill>
                  <a:schemeClr val="bg1"/>
                </a:solidFill>
              </a:rPr>
              <a:t>UI update</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Limitations and roadmap</a:t>
            </a:r>
            <a:endParaRPr lang="en-US" sz="3400" dirty="0"/>
          </a:p>
        </p:txBody>
      </p:sp>
      <p:sp>
        <p:nvSpPr>
          <p:cNvPr id="3" name="card-327"/>
          <p:cNvSpPr/>
          <p:nvPr/>
        </p:nvSpPr>
        <p:spPr>
          <a:xfrm>
            <a:off x="457200" y="1143000"/>
            <a:ext cx="3840480" cy="3474720"/>
          </a:xfrm>
          <a:prstGeom prst="roundRect">
            <a:avLst>
              <a:gd name="adj" fmla="val 2632"/>
            </a:avLst>
          </a:prstGeom>
          <a:solidFill>
            <a:schemeClr val="bg2"/>
          </a:solidFill>
          <a:ln/>
        </p:spPr>
      </p:sp>
      <p:sp>
        <p:nvSpPr>
          <p:cNvPr id="4" name="text-328"/>
          <p:cNvSpPr txBox="1"/>
          <p:nvPr/>
        </p:nvSpPr>
        <p:spPr>
          <a:xfrm>
            <a:off x="685800" y="1298448"/>
            <a:ext cx="33832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CURRENT LIMITATIONS</a:t>
            </a:r>
            <a:endParaRPr lang="en-US" sz="1200" dirty="0"/>
          </a:p>
        </p:txBody>
      </p:sp>
      <p:pic>
        <p:nvPicPr>
          <p:cNvPr id="5" name="icon-329" descr="limitation">    </p:cNvPr>
          <p:cNvPicPr>
            <a:picLocks noChangeAspect="1"/>
          </p:cNvPicPr>
          <p:nvPr/>
        </p:nvPicPr>
        <p:blipFill>
          <a:blip r:embed="rId1"/>
          <a:stretch>
            <a:fillRect/>
          </a:stretch>
        </p:blipFill>
        <p:spPr>
          <a:xfrm>
            <a:off x="685800" y="1773936"/>
            <a:ext cx="219456" cy="219456"/>
          </a:xfrm>
          <a:prstGeom prst="rect">
            <a:avLst/>
          </a:prstGeom>
        </p:spPr>
      </p:pic>
      <p:sp>
        <p:nvSpPr>
          <p:cNvPr id="6" name="text-330"/>
          <p:cNvSpPr txBox="1"/>
          <p:nvPr/>
        </p:nvSpPr>
        <p:spPr>
          <a:xfrm>
            <a:off x="1051560" y="1737360"/>
            <a:ext cx="3108960" cy="502920"/>
          </a:xfrm>
          <a:prstGeom prst="rect">
            <a:avLst/>
          </a:prstGeom>
          <a:noFill/>
          <a:ln/>
        </p:spPr>
        <p:txBody>
          <a:bodyPr wrap="square" lIns="0" tIns="0" rIns="0" bIns="0" rtlCol="0" anchor="t"/>
          <a:lstStyle/>
          <a:p>
            <a:pPr indent="0" marL="0">
              <a:buNone/>
            </a:pPr>
            <a:r>
              <a:rPr lang="en-US" sz="1400" dirty="0">
                <a:solidFill>
                  <a:schemeClr val="tx1"/>
                </a:solidFill>
              </a:rPr>
              <a:t>Data lives in the browser (localStorage)</a:t>
            </a:r>
            <a:endParaRPr lang="en-US" sz="1400" dirty="0"/>
          </a:p>
        </p:txBody>
      </p:sp>
      <p:pic>
        <p:nvPicPr>
          <p:cNvPr id="7" name="icon-331" descr="limitation">    </p:cNvPr>
          <p:cNvPicPr>
            <a:picLocks noChangeAspect="1"/>
          </p:cNvPicPr>
          <p:nvPr/>
        </p:nvPicPr>
        <p:blipFill>
          <a:blip r:embed="rId2"/>
          <a:stretch>
            <a:fillRect/>
          </a:stretch>
        </p:blipFill>
        <p:spPr>
          <a:xfrm>
            <a:off x="685800" y="2340864"/>
            <a:ext cx="219456" cy="219456"/>
          </a:xfrm>
          <a:prstGeom prst="rect">
            <a:avLst/>
          </a:prstGeom>
        </p:spPr>
      </p:pic>
      <p:sp>
        <p:nvSpPr>
          <p:cNvPr id="8" name="text-332"/>
          <p:cNvSpPr txBox="1"/>
          <p:nvPr/>
        </p:nvSpPr>
        <p:spPr>
          <a:xfrm>
            <a:off x="1051560" y="2304288"/>
            <a:ext cx="3108960" cy="502920"/>
          </a:xfrm>
          <a:prstGeom prst="rect">
            <a:avLst/>
          </a:prstGeom>
          <a:noFill/>
          <a:ln/>
        </p:spPr>
        <p:txBody>
          <a:bodyPr wrap="square" lIns="0" tIns="0" rIns="0" bIns="0" rtlCol="0" anchor="t"/>
          <a:lstStyle/>
          <a:p>
            <a:pPr indent="0" marL="0">
              <a:buNone/>
            </a:pPr>
            <a:r>
              <a:rPr lang="en-US" sz="1400" dirty="0">
                <a:solidFill>
                  <a:schemeClr val="tx1"/>
                </a:solidFill>
              </a:rPr>
              <a:t>Payments are demo-only</a:t>
            </a:r>
            <a:endParaRPr lang="en-US" sz="1400" dirty="0"/>
          </a:p>
        </p:txBody>
      </p:sp>
      <p:pic>
        <p:nvPicPr>
          <p:cNvPr id="9" name="icon-333" descr="limitation">    </p:cNvPr>
          <p:cNvPicPr>
            <a:picLocks noChangeAspect="1"/>
          </p:cNvPicPr>
          <p:nvPr/>
        </p:nvPicPr>
        <p:blipFill>
          <a:blip r:embed="rId3"/>
          <a:stretch>
            <a:fillRect/>
          </a:stretch>
        </p:blipFill>
        <p:spPr>
          <a:xfrm>
            <a:off x="685800" y="2907792"/>
            <a:ext cx="219456" cy="219456"/>
          </a:xfrm>
          <a:prstGeom prst="rect">
            <a:avLst/>
          </a:prstGeom>
        </p:spPr>
      </p:pic>
      <p:sp>
        <p:nvSpPr>
          <p:cNvPr id="10" name="text-334"/>
          <p:cNvSpPr txBox="1"/>
          <p:nvPr/>
        </p:nvSpPr>
        <p:spPr>
          <a:xfrm>
            <a:off x="1051560" y="2871216"/>
            <a:ext cx="3108960" cy="502920"/>
          </a:xfrm>
          <a:prstGeom prst="rect">
            <a:avLst/>
          </a:prstGeom>
          <a:noFill/>
          <a:ln/>
        </p:spPr>
        <p:txBody>
          <a:bodyPr wrap="square" lIns="0" tIns="0" rIns="0" bIns="0" rtlCol="0" anchor="t"/>
          <a:lstStyle/>
          <a:p>
            <a:pPr indent="0" marL="0">
              <a:buNone/>
            </a:pPr>
            <a:r>
              <a:rPr lang="en-US" sz="1400" dirty="0">
                <a:solidFill>
                  <a:schemeClr val="tx1"/>
                </a:solidFill>
              </a:rPr>
              <a:t>Admin sign-in is hard-coded</a:t>
            </a:r>
            <a:endParaRPr lang="en-US" sz="1400" dirty="0"/>
          </a:p>
        </p:txBody>
      </p:sp>
      <p:pic>
        <p:nvPicPr>
          <p:cNvPr id="11" name="icon-335" descr="limitation">    </p:cNvPr>
          <p:cNvPicPr>
            <a:picLocks noChangeAspect="1"/>
          </p:cNvPicPr>
          <p:nvPr/>
        </p:nvPicPr>
        <p:blipFill>
          <a:blip r:embed="rId4"/>
          <a:stretch>
            <a:fillRect/>
          </a:stretch>
        </p:blipFill>
        <p:spPr>
          <a:xfrm>
            <a:off x="685800" y="3474720"/>
            <a:ext cx="219456" cy="219456"/>
          </a:xfrm>
          <a:prstGeom prst="rect">
            <a:avLst/>
          </a:prstGeom>
        </p:spPr>
      </p:pic>
      <p:sp>
        <p:nvSpPr>
          <p:cNvPr id="12" name="text-336"/>
          <p:cNvSpPr txBox="1"/>
          <p:nvPr/>
        </p:nvSpPr>
        <p:spPr>
          <a:xfrm>
            <a:off x="1051560" y="3438144"/>
            <a:ext cx="3108960" cy="502920"/>
          </a:xfrm>
          <a:prstGeom prst="rect">
            <a:avLst/>
          </a:prstGeom>
          <a:noFill/>
          <a:ln/>
        </p:spPr>
        <p:txBody>
          <a:bodyPr wrap="square" lIns="0" tIns="0" rIns="0" bIns="0" rtlCol="0" anchor="t"/>
          <a:lstStyle/>
          <a:p>
            <a:pPr indent="0" marL="0">
              <a:buNone/>
            </a:pPr>
            <a:r>
              <a:rPr lang="en-US" sz="1400" dirty="0">
                <a:solidFill>
                  <a:schemeClr val="tx1"/>
                </a:solidFill>
              </a:rPr>
              <a:t>Stock is not reduced when an order is placed</a:t>
            </a:r>
            <a:endParaRPr lang="en-US" sz="1400" dirty="0"/>
          </a:p>
        </p:txBody>
      </p:sp>
      <p:pic>
        <p:nvPicPr>
          <p:cNvPr id="13" name="icon-337" descr="limitation">    </p:cNvPr>
          <p:cNvPicPr>
            <a:picLocks noChangeAspect="1"/>
          </p:cNvPicPr>
          <p:nvPr/>
        </p:nvPicPr>
        <p:blipFill>
          <a:blip r:embed="rId5"/>
          <a:stretch>
            <a:fillRect/>
          </a:stretch>
        </p:blipFill>
        <p:spPr>
          <a:xfrm>
            <a:off x="685800" y="4041648"/>
            <a:ext cx="219456" cy="219456"/>
          </a:xfrm>
          <a:prstGeom prst="rect">
            <a:avLst/>
          </a:prstGeom>
        </p:spPr>
      </p:pic>
      <p:sp>
        <p:nvSpPr>
          <p:cNvPr id="14" name="text-338"/>
          <p:cNvSpPr txBox="1"/>
          <p:nvPr/>
        </p:nvSpPr>
        <p:spPr>
          <a:xfrm>
            <a:off x="1051560" y="4005072"/>
            <a:ext cx="3108960" cy="502920"/>
          </a:xfrm>
          <a:prstGeom prst="rect">
            <a:avLst/>
          </a:prstGeom>
          <a:noFill/>
          <a:ln/>
        </p:spPr>
        <p:txBody>
          <a:bodyPr wrap="square" lIns="0" tIns="0" rIns="0" bIns="0" rtlCol="0" anchor="t"/>
          <a:lstStyle/>
          <a:p>
            <a:pPr indent="0" marL="0">
              <a:buNone/>
            </a:pPr>
            <a:r>
              <a:rPr lang="en-US" sz="1400" dirty="0">
                <a:solidFill>
                  <a:schemeClr val="tx1"/>
                </a:solidFill>
              </a:rPr>
              <a:t>No reviews or password change</a:t>
            </a:r>
            <a:endParaRPr lang="en-US" sz="1400" dirty="0"/>
          </a:p>
        </p:txBody>
      </p:sp>
      <p:sp>
        <p:nvSpPr>
          <p:cNvPr id="15" name="text-339"/>
          <p:cNvSpPr txBox="1"/>
          <p:nvPr/>
        </p:nvSpPr>
        <p:spPr>
          <a:xfrm>
            <a:off x="4663440" y="1298448"/>
            <a:ext cx="40233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PROPOSED ROADMAP</a:t>
            </a:r>
            <a:endParaRPr lang="en-US" sz="1200" dirty="0"/>
          </a:p>
        </p:txBody>
      </p:sp>
      <p:sp>
        <p:nvSpPr>
          <p:cNvPr id="16" name="num-340"/>
          <p:cNvSpPr txBox="1"/>
          <p:nvPr/>
        </p:nvSpPr>
        <p:spPr>
          <a:xfrm>
            <a:off x="4663440" y="1728216"/>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341"/>
          <p:cNvSpPr txBox="1"/>
          <p:nvPr/>
        </p:nvSpPr>
        <p:spPr>
          <a:xfrm>
            <a:off x="5303520" y="1691640"/>
            <a:ext cx="338328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Back end</a:t>
            </a:r>
            <a:endParaRPr lang="en-US" sz="1600" dirty="0"/>
          </a:p>
        </p:txBody>
      </p:sp>
      <p:sp>
        <p:nvSpPr>
          <p:cNvPr id="18" name="text-342"/>
          <p:cNvSpPr txBox="1"/>
          <p:nvPr/>
        </p:nvSpPr>
        <p:spPr>
          <a:xfrm>
            <a:off x="5303520" y="1984248"/>
            <a:ext cx="3383280" cy="365760"/>
          </a:xfrm>
          <a:prstGeom prst="rect">
            <a:avLst/>
          </a:prstGeom>
          <a:noFill/>
          <a:ln/>
        </p:spPr>
        <p:txBody>
          <a:bodyPr wrap="square" lIns="0" tIns="0" rIns="0" bIns="0" rtlCol="0" anchor="t"/>
          <a:lstStyle/>
          <a:p>
            <a:pPr indent="0" marL="0">
              <a:buNone/>
            </a:pPr>
            <a:r>
              <a:rPr lang="en-US" sz="1400" dirty="0">
                <a:solidFill>
                  <a:schemeClr val="accent3"/>
                </a:solidFill>
              </a:rPr>
              <a:t>Axios + JSON Server, then a real API</a:t>
            </a:r>
            <a:endParaRPr lang="en-US" sz="1400" dirty="0"/>
          </a:p>
        </p:txBody>
      </p:sp>
      <p:sp>
        <p:nvSpPr>
          <p:cNvPr id="19" name="num-343"/>
          <p:cNvSpPr txBox="1"/>
          <p:nvPr/>
        </p:nvSpPr>
        <p:spPr>
          <a:xfrm>
            <a:off x="4663440" y="2459736"/>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0" name="text-344"/>
          <p:cNvSpPr txBox="1"/>
          <p:nvPr/>
        </p:nvSpPr>
        <p:spPr>
          <a:xfrm>
            <a:off x="5303520" y="2423160"/>
            <a:ext cx="338328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Security</a:t>
            </a:r>
            <a:endParaRPr lang="en-US" sz="1600" dirty="0"/>
          </a:p>
        </p:txBody>
      </p:sp>
      <p:sp>
        <p:nvSpPr>
          <p:cNvPr id="21" name="text-345"/>
          <p:cNvSpPr txBox="1"/>
          <p:nvPr/>
        </p:nvSpPr>
        <p:spPr>
          <a:xfrm>
            <a:off x="5303520" y="2715768"/>
            <a:ext cx="3383280" cy="365760"/>
          </a:xfrm>
          <a:prstGeom prst="rect">
            <a:avLst/>
          </a:prstGeom>
          <a:noFill/>
          <a:ln/>
        </p:spPr>
        <p:txBody>
          <a:bodyPr wrap="square" lIns="0" tIns="0" rIns="0" bIns="0" rtlCol="0" anchor="t"/>
          <a:lstStyle/>
          <a:p>
            <a:pPr indent="0" marL="0">
              <a:buNone/>
            </a:pPr>
            <a:r>
              <a:rPr lang="en-US" sz="1400" dirty="0">
                <a:solidFill>
                  <a:schemeClr val="accent3"/>
                </a:solidFill>
              </a:rPr>
              <a:t>JWT sign-in and hashed passwords</a:t>
            </a:r>
            <a:endParaRPr lang="en-US" sz="1400" dirty="0"/>
          </a:p>
        </p:txBody>
      </p:sp>
      <p:sp>
        <p:nvSpPr>
          <p:cNvPr id="22" name="num-346"/>
          <p:cNvSpPr txBox="1"/>
          <p:nvPr/>
        </p:nvSpPr>
        <p:spPr>
          <a:xfrm>
            <a:off x="4663440" y="3191256"/>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3" name="text-347"/>
          <p:cNvSpPr txBox="1"/>
          <p:nvPr/>
        </p:nvSpPr>
        <p:spPr>
          <a:xfrm>
            <a:off x="5303520" y="3154680"/>
            <a:ext cx="338328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Commerce</a:t>
            </a:r>
            <a:endParaRPr lang="en-US" sz="1600" dirty="0"/>
          </a:p>
        </p:txBody>
      </p:sp>
      <p:sp>
        <p:nvSpPr>
          <p:cNvPr id="24" name="text-348"/>
          <p:cNvSpPr txBox="1"/>
          <p:nvPr/>
        </p:nvSpPr>
        <p:spPr>
          <a:xfrm>
            <a:off x="5303520" y="3447288"/>
            <a:ext cx="3383280" cy="365760"/>
          </a:xfrm>
          <a:prstGeom prst="rect">
            <a:avLst/>
          </a:prstGeom>
          <a:noFill/>
          <a:ln/>
        </p:spPr>
        <p:txBody>
          <a:bodyPr wrap="square" lIns="0" tIns="0" rIns="0" bIns="0" rtlCol="0" anchor="t"/>
          <a:lstStyle/>
          <a:p>
            <a:pPr indent="0" marL="0">
              <a:buNone/>
            </a:pPr>
            <a:r>
              <a:rPr lang="en-US" sz="1400" dirty="0">
                <a:solidFill>
                  <a:schemeClr val="accent3"/>
                </a:solidFill>
              </a:rPr>
              <a:t>Payment gateway, stock deduction, reviews</a:t>
            </a:r>
            <a:endParaRPr lang="en-US" sz="1400" dirty="0"/>
          </a:p>
        </p:txBody>
      </p:sp>
      <p:sp>
        <p:nvSpPr>
          <p:cNvPr id="25" name="num-349"/>
          <p:cNvSpPr txBox="1"/>
          <p:nvPr/>
        </p:nvSpPr>
        <p:spPr>
          <a:xfrm>
            <a:off x="4663440" y="3922776"/>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6" name="text-350"/>
          <p:cNvSpPr txBox="1"/>
          <p:nvPr/>
        </p:nvSpPr>
        <p:spPr>
          <a:xfrm>
            <a:off x="5303520" y="3886200"/>
            <a:ext cx="338328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Growth</a:t>
            </a:r>
            <a:endParaRPr lang="en-US" sz="1600" dirty="0"/>
          </a:p>
        </p:txBody>
      </p:sp>
      <p:sp>
        <p:nvSpPr>
          <p:cNvPr id="27" name="text-351"/>
          <p:cNvSpPr txBox="1"/>
          <p:nvPr/>
        </p:nvSpPr>
        <p:spPr>
          <a:xfrm>
            <a:off x="5303520" y="4178808"/>
            <a:ext cx="3383280" cy="365760"/>
          </a:xfrm>
          <a:prstGeom prst="rect">
            <a:avLst/>
          </a:prstGeom>
          <a:noFill/>
          <a:ln/>
        </p:spPr>
        <p:txBody>
          <a:bodyPr wrap="square" lIns="0" tIns="0" rIns="0" bIns="0" rtlCol="0" anchor="t"/>
          <a:lstStyle/>
          <a:p>
            <a:pPr indent="0" marL="0">
              <a:buNone/>
            </a:pPr>
            <a:r>
              <a:rPr lang="en-US" sz="1400" dirty="0">
                <a:solidFill>
                  <a:schemeClr val="accent3"/>
                </a:solidFill>
              </a:rPr>
              <a:t>Order tracking, e-mail alerts, recommendations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iconbg-352"/>
          <p:cNvSpPr/>
          <p:nvPr/>
        </p:nvSpPr>
        <p:spPr>
          <a:xfrm>
            <a:off x="548640" y="1325880"/>
            <a:ext cx="548640" cy="548640"/>
          </a:xfrm>
          <a:prstGeom prst="ellipse">
            <a:avLst/>
          </a:prstGeom>
          <a:solidFill>
            <a:schemeClr val="accent1"/>
          </a:solidFill>
          <a:ln/>
        </p:spPr>
      </p:sp>
      <p:pic>
        <p:nvPicPr>
          <p:cNvPr id="4" name="icon-353" descr="CheckCircle icon">    </p:cNvPr>
          <p:cNvPicPr>
            <a:picLocks noChangeAspect="1"/>
          </p:cNvPicPr>
          <p:nvPr/>
        </p:nvPicPr>
        <p:blipFill>
          <a:blip r:embed="rId1"/>
          <a:stretch>
            <a:fillRect/>
          </a:stretch>
        </p:blipFill>
        <p:spPr>
          <a:xfrm>
            <a:off x="685800" y="1463040"/>
            <a:ext cx="274320" cy="274320"/>
          </a:xfrm>
          <a:prstGeom prst="rect">
            <a:avLst/>
          </a:prstGeom>
        </p:spPr>
      </p:pic>
      <p:sp>
        <p:nvSpPr>
          <p:cNvPr id="5" name="text-354"/>
          <p:cNvSpPr txBox="1"/>
          <p:nvPr/>
        </p:nvSpPr>
        <p:spPr>
          <a:xfrm>
            <a:off x="1325880" y="1234440"/>
            <a:ext cx="4206240" cy="914400"/>
          </a:xfrm>
          <a:prstGeom prst="rect">
            <a:avLst/>
          </a:prstGeom>
          <a:noFill/>
          <a:ln/>
        </p:spPr>
        <p:txBody>
          <a:bodyPr wrap="square" lIns="0" tIns="0" rIns="0" bIns="0" rtlCol="0" anchor="ctr"/>
          <a:lstStyle/>
          <a:p>
            <a:pPr indent="0" marL="0">
              <a:buNone/>
            </a:pPr>
            <a:r>
              <a:rPr lang="en-US" sz="1800" dirty="0">
                <a:solidFill>
                  <a:schemeClr val="bg1"/>
                </a:solidFill>
              </a:rPr>
              <a:t>A complete shopping flow, from sign-up to order history, built with React</a:t>
            </a:r>
            <a:endParaRPr lang="en-US" sz="1800" dirty="0"/>
          </a:p>
        </p:txBody>
      </p:sp>
      <p:sp>
        <p:nvSpPr>
          <p:cNvPr id="6" name="iconbg-355"/>
          <p:cNvSpPr/>
          <p:nvPr/>
        </p:nvSpPr>
        <p:spPr>
          <a:xfrm>
            <a:off x="548640" y="2423160"/>
            <a:ext cx="548640" cy="548640"/>
          </a:xfrm>
          <a:prstGeom prst="ellipse">
            <a:avLst/>
          </a:prstGeom>
          <a:solidFill>
            <a:schemeClr val="accent1"/>
          </a:solidFill>
          <a:ln/>
        </p:spPr>
      </p:sp>
      <p:pic>
        <p:nvPicPr>
          <p:cNvPr id="7" name="icon-356" descr="LayerGroup icon">    </p:cNvPr>
          <p:cNvPicPr>
            <a:picLocks noChangeAspect="1"/>
          </p:cNvPicPr>
          <p:nvPr/>
        </p:nvPicPr>
        <p:blipFill>
          <a:blip r:embed="rId2"/>
          <a:stretch>
            <a:fillRect/>
          </a:stretch>
        </p:blipFill>
        <p:spPr>
          <a:xfrm>
            <a:off x="685800" y="2560320"/>
            <a:ext cx="274320" cy="274320"/>
          </a:xfrm>
          <a:prstGeom prst="rect">
            <a:avLst/>
          </a:prstGeom>
        </p:spPr>
      </p:pic>
      <p:sp>
        <p:nvSpPr>
          <p:cNvPr id="8" name="text-357"/>
          <p:cNvSpPr txBox="1"/>
          <p:nvPr/>
        </p:nvSpPr>
        <p:spPr>
          <a:xfrm>
            <a:off x="1325880" y="2331720"/>
            <a:ext cx="4206240" cy="914400"/>
          </a:xfrm>
          <a:prstGeom prst="rect">
            <a:avLst/>
          </a:prstGeom>
          <a:noFill/>
          <a:ln/>
        </p:spPr>
        <p:txBody>
          <a:bodyPr wrap="square" lIns="0" tIns="0" rIns="0" bIns="0" rtlCol="0" anchor="ctr"/>
          <a:lstStyle/>
          <a:p>
            <a:pPr indent="0" marL="0">
              <a:buNone/>
            </a:pPr>
            <a:r>
              <a:rPr lang="en-US" sz="1800" dirty="0">
                <a:solidFill>
                  <a:schemeClr val="bg1"/>
                </a:solidFill>
              </a:rPr>
              <a:t>Clear separation: routing, Redux Toolkit state and Context authentication</a:t>
            </a:r>
            <a:endParaRPr lang="en-US" sz="1800" dirty="0"/>
          </a:p>
        </p:txBody>
      </p:sp>
      <p:sp>
        <p:nvSpPr>
          <p:cNvPr id="9" name="iconbg-358"/>
          <p:cNvSpPr/>
          <p:nvPr/>
        </p:nvSpPr>
        <p:spPr>
          <a:xfrm>
            <a:off x="548640" y="3520440"/>
            <a:ext cx="548640" cy="548640"/>
          </a:xfrm>
          <a:prstGeom prst="ellipse">
            <a:avLst/>
          </a:prstGeom>
          <a:solidFill>
            <a:schemeClr val="accent1"/>
          </a:solidFill>
          <a:ln/>
        </p:spPr>
      </p:sp>
      <p:pic>
        <p:nvPicPr>
          <p:cNvPr id="10" name="icon-359" descr="Rocket icon">    </p:cNvPr>
          <p:cNvPicPr>
            <a:picLocks noChangeAspect="1"/>
          </p:cNvPicPr>
          <p:nvPr/>
        </p:nvPicPr>
        <p:blipFill>
          <a:blip r:embed="rId3"/>
          <a:stretch>
            <a:fillRect/>
          </a:stretch>
        </p:blipFill>
        <p:spPr>
          <a:xfrm>
            <a:off x="685800" y="3657600"/>
            <a:ext cx="274320" cy="274320"/>
          </a:xfrm>
          <a:prstGeom prst="rect">
            <a:avLst/>
          </a:prstGeom>
        </p:spPr>
      </p:pic>
      <p:sp>
        <p:nvSpPr>
          <p:cNvPr id="11" name="text-360"/>
          <p:cNvSpPr txBox="1"/>
          <p:nvPr/>
        </p:nvSpPr>
        <p:spPr>
          <a:xfrm>
            <a:off x="1325880" y="3429000"/>
            <a:ext cx="4206240" cy="914400"/>
          </a:xfrm>
          <a:prstGeom prst="rect">
            <a:avLst/>
          </a:prstGeom>
          <a:noFill/>
          <a:ln/>
        </p:spPr>
        <p:txBody>
          <a:bodyPr wrap="square" lIns="0" tIns="0" rIns="0" bIns="0" rtlCol="0" anchor="ctr"/>
          <a:lstStyle/>
          <a:p>
            <a:pPr indent="0" marL="0">
              <a:buNone/>
            </a:pPr>
            <a:r>
              <a:rPr lang="en-US" sz="1800" dirty="0">
                <a:solidFill>
                  <a:schemeClr val="bg1"/>
                </a:solidFill>
              </a:rPr>
              <a:t>A documented path to a real back end, JWT security and online payments</a:t>
            </a:r>
            <a:endParaRPr lang="en-US" sz="1800" dirty="0"/>
          </a:p>
        </p:txBody>
      </p:sp>
      <p:sp>
        <p:nvSpPr>
          <p:cNvPr id="12" name="card-361"/>
          <p:cNvSpPr/>
          <p:nvPr/>
        </p:nvSpPr>
        <p:spPr>
          <a:xfrm>
            <a:off x="5852160" y="1234440"/>
            <a:ext cx="2834640" cy="3200400"/>
          </a:xfrm>
          <a:prstGeom prst="roundRect">
            <a:avLst>
              <a:gd name="adj" fmla="val 3226"/>
            </a:avLst>
          </a:prstGeom>
          <a:solidFill>
            <a:schemeClr val="accent1"/>
          </a:solidFill>
          <a:ln/>
        </p:spPr>
      </p:sp>
      <p:sp>
        <p:nvSpPr>
          <p:cNvPr id="13" name="text-362"/>
          <p:cNvSpPr txBox="1"/>
          <p:nvPr/>
        </p:nvSpPr>
        <p:spPr>
          <a:xfrm>
            <a:off x="6035040" y="1783080"/>
            <a:ext cx="2468880" cy="731520"/>
          </a:xfrm>
          <a:prstGeom prst="rect">
            <a:avLst/>
          </a:prstGeom>
          <a:noFill/>
          <a:ln/>
        </p:spPr>
        <p:txBody>
          <a:bodyPr wrap="square" lIns="0" tIns="0" rIns="0" bIns="0" rtlCol="0" anchor="ctr"/>
          <a:lstStyle/>
          <a:p>
            <a:pPr algn="ctr" indent="0" marL="0">
              <a:buNone/>
            </a:pPr>
            <a:r>
              <a:rPr lang="en-US" sz="3400" b="1" dirty="0">
                <a:solidFill>
                  <a:schemeClr val="tx1"/>
                </a:solidFill>
                <a:latin typeface="Cambria" pitchFamily="34" charset="0"/>
                <a:ea typeface="Cambria" pitchFamily="34" charset="-122"/>
                <a:cs typeface="Cambria" pitchFamily="34" charset="-120"/>
              </a:rPr>
              <a:t>Thank you</a:t>
            </a:r>
            <a:endParaRPr lang="en-US" sz="3400" dirty="0"/>
          </a:p>
        </p:txBody>
      </p:sp>
      <p:sp>
        <p:nvSpPr>
          <p:cNvPr id="14" name="text-363"/>
          <p:cNvSpPr txBox="1"/>
          <p:nvPr/>
        </p:nvSpPr>
        <p:spPr>
          <a:xfrm>
            <a:off x="6035040" y="2606040"/>
            <a:ext cx="2468880" cy="457200"/>
          </a:xfrm>
          <a:prstGeom prst="rect">
            <a:avLst/>
          </a:prstGeom>
          <a:noFill/>
          <a:ln/>
        </p:spPr>
        <p:txBody>
          <a:bodyPr wrap="square" lIns="0" tIns="0" rIns="0" bIns="0" rtlCol="0" anchor="ctr"/>
          <a:lstStyle/>
          <a:p>
            <a:pPr algn="ctr" indent="0" marL="0">
              <a:buNone/>
            </a:pPr>
            <a:r>
              <a:rPr lang="en-US" sz="2200" dirty="0">
                <a:solidFill>
                  <a:schemeClr val="tx1"/>
                </a:solidFill>
              </a:rPr>
              <a:t>Questions?</a:t>
            </a:r>
            <a:endParaRPr lang="en-US" sz="2200" dirty="0"/>
          </a:p>
        </p:txBody>
      </p:sp>
      <p:sp>
        <p:nvSpPr>
          <p:cNvPr id="15" name="text-364"/>
          <p:cNvSpPr txBox="1"/>
          <p:nvPr/>
        </p:nvSpPr>
        <p:spPr>
          <a:xfrm>
            <a:off x="6035040" y="3520440"/>
            <a:ext cx="2468880" cy="365760"/>
          </a:xfrm>
          <a:prstGeom prst="rect">
            <a:avLst/>
          </a:prstGeom>
          <a:noFill/>
          <a:ln/>
        </p:spPr>
        <p:txBody>
          <a:bodyPr wrap="square" lIns="0" tIns="0" rIns="0" bIns="0" rtlCol="0" anchor="ctr"/>
          <a:lstStyle/>
          <a:p>
            <a:pPr algn="ctr" indent="0" marL="0">
              <a:buNone/>
            </a:pPr>
            <a:r>
              <a:rPr lang="en-US" sz="1600" b="1" dirty="0">
                <a:solidFill>
                  <a:schemeClr val="tx1"/>
                </a:solidFill>
              </a:rPr>
              <a:t>Deepak Tumma</a:t>
            </a:r>
            <a:endParaRPr lang="en-US" sz="1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onstruction Work Place">
  <a:themeElements>
    <a:clrScheme name="Construction Work Place">
      <a:dk1>
        <a:srgbClr val="1B232B"/>
      </a:dk1>
      <a:lt1>
        <a:srgbClr val="FFFFFF"/>
      </a:lt1>
      <a:dk2>
        <a:srgbClr val="2B3A47"/>
      </a:dk2>
      <a:lt2>
        <a:srgbClr val="F1F3F5"/>
      </a:lt2>
      <a:accent1>
        <a:srgbClr val="F28C28"/>
      </a:accent1>
      <a:accent2>
        <a:srgbClr val="3E6D8E"/>
      </a:accent2>
      <a:accent3>
        <a:srgbClr val="5A6B7A"/>
      </a:accent3>
      <a:accent4>
        <a:srgbClr val="1F7A52"/>
      </a:accent4>
      <a:accent5>
        <a:srgbClr val="C0392B"/>
      </a:accent5>
      <a:accent6>
        <a:srgbClr val="B7791F"/>
      </a:accent6>
      <a:hlink>
        <a:srgbClr val="3E6D8E"/>
      </a:hlink>
      <a:folHlink>
        <a:srgbClr val="5A6B7A"/>
      </a:folHlink>
    </a:clrScheme>
    <a:fontScheme name="Construction Work Pla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 Work Place - Project Presentation</dc:title>
  <dc:subject>E-commerce web application for construction materials (React, Redux Toolkit, Context API)</dc:subject>
  <dc:creator>Deepak Tumma</dc:creator>
  <cp:lastModifiedBy>Deepak Tumma</cp:lastModifiedBy>
  <cp:revision>1</cp:revision>
  <dcterms:created xsi:type="dcterms:W3CDTF">2026-10-10T06:47:37Z</dcterms:created>
  <dcterms:modified xsi:type="dcterms:W3CDTF">2026-10-10T06:47:37Z</dcterms:modified>
</cp:coreProperties>
</file>